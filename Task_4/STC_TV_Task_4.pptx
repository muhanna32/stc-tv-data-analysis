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9f928f9937446f" /><Relationship Type="http://schemas.openxmlformats.org/officeDocument/2006/relationships/extended-properties" Target="/docProps/app.xml" Id="R4449e3365c1a420b" /><Relationship Type="http://schemas.openxmlformats.org/officeDocument/2006/relationships/officeDocument" Target="/ppt/presentation.xml" Id="R28a1e33b9ccf48c2" /></Relationships>
</file>

<file path=ppt/presentation.xml><?xml version="1.0" encoding="utf-8"?>
<p:presentation xmlns:p="http://schemas.openxmlformats.org/presentationml/2006/main">
  <p:sldMasterIdLst>
    <p:sldMasterId xmlns:r="http://schemas.openxmlformats.org/officeDocument/2006/relationships" id="2147483648" r:id="Ra38f719ae2e54159"/>
  </p:sldMasterIdLst>
  <p:notesMasterIdLst>
    <p:notesMasterId xmlns:r="http://schemas.openxmlformats.org/officeDocument/2006/relationships" r:id="R868ffa26c4504b5c"/>
  </p:notesMasterIdLst>
  <p:sldIdLst>
    <p:sldId xmlns:r="http://schemas.openxmlformats.org/officeDocument/2006/relationships" id="256" r:id="Rc89ee689a74a48e7"/>
    <p:sldId xmlns:r="http://schemas.openxmlformats.org/officeDocument/2006/relationships" id="257" r:id="Radb0b91ae0024e4a"/>
    <p:sldId xmlns:r="http://schemas.openxmlformats.org/officeDocument/2006/relationships" id="258" r:id="R92be236acad946f0"/>
    <p:sldId xmlns:r="http://schemas.openxmlformats.org/officeDocument/2006/relationships" id="259" r:id="R0f03ed94ca194d99"/>
    <p:sldId xmlns:r="http://schemas.openxmlformats.org/officeDocument/2006/relationships" id="260" r:id="R0375182dbb9f4657"/>
    <p:sldId xmlns:r="http://schemas.openxmlformats.org/officeDocument/2006/relationships" id="261" r:id="Rb874aa7fce5d4874"/>
    <p:sldId xmlns:r="http://schemas.openxmlformats.org/officeDocument/2006/relationships" id="262" r:id="R5d4d3517e9504296"/>
    <p:sldId xmlns:r="http://schemas.openxmlformats.org/officeDocument/2006/relationships" id="263" r:id="Rb628c8ec91684361"/>
    <p:sldId xmlns:r="http://schemas.openxmlformats.org/officeDocument/2006/relationships" id="264" r:id="R07584c1a85644de0"/>
    <p:sldId xmlns:r="http://schemas.openxmlformats.org/officeDocument/2006/relationships" id="265" r:id="Rfb83e4fdf18b45fb"/>
    <p:sldId xmlns:r="http://schemas.openxmlformats.org/officeDocument/2006/relationships" id="266" r:id="R5d1be23019fa4ca6"/>
    <p:sldId xmlns:r="http://schemas.openxmlformats.org/officeDocument/2006/relationships" id="267" r:id="R94018405b86f44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849d114bf54f53" /><Relationship Type="http://schemas.openxmlformats.org/officeDocument/2006/relationships/slideMaster" Target="/ppt/slideMasters/slideMaster1.xml" Id="Ra38f719ae2e54159" /><Relationship Type="http://schemas.openxmlformats.org/officeDocument/2006/relationships/notesMaster" Target="/ppt/notesMasters/notesMaster1.xml" Id="R868ffa26c4504b5c" /><Relationship Type="http://schemas.openxmlformats.org/officeDocument/2006/relationships/presProps" Target="/ppt/presProps.xml" Id="R144dbaf7db7a4336" /><Relationship Type="http://schemas.openxmlformats.org/officeDocument/2006/relationships/tableStyles" Target="/ppt/tableStyles.xml" Id="R9c65b8ed001b43bc" /><Relationship Type="http://schemas.openxmlformats.org/officeDocument/2006/relationships/slide" Target="/ppt/slides/slide1.xml" Id="Rc89ee689a74a48e7" /><Relationship Type="http://schemas.openxmlformats.org/officeDocument/2006/relationships/slide" Target="/ppt/slides/slide2.xml" Id="Radb0b91ae0024e4a" /><Relationship Type="http://schemas.openxmlformats.org/officeDocument/2006/relationships/slide" Target="/ppt/slides/slide3.xml" Id="R92be236acad946f0" /><Relationship Type="http://schemas.openxmlformats.org/officeDocument/2006/relationships/slide" Target="/ppt/slides/slide4.xml" Id="R0f03ed94ca194d99" /><Relationship Type="http://schemas.openxmlformats.org/officeDocument/2006/relationships/slide" Target="/ppt/slides/slide5.xml" Id="R0375182dbb9f4657" /><Relationship Type="http://schemas.openxmlformats.org/officeDocument/2006/relationships/slide" Target="/ppt/slides/slide6.xml" Id="Rb874aa7fce5d4874" /><Relationship Type="http://schemas.openxmlformats.org/officeDocument/2006/relationships/slide" Target="/ppt/slides/slide7.xml" Id="R5d4d3517e9504296" /><Relationship Type="http://schemas.openxmlformats.org/officeDocument/2006/relationships/slide" Target="/ppt/slides/slide8.xml" Id="Rb628c8ec91684361" /><Relationship Type="http://schemas.openxmlformats.org/officeDocument/2006/relationships/slide" Target="/ppt/slides/slide9.xml" Id="R07584c1a85644de0" /><Relationship Type="http://schemas.openxmlformats.org/officeDocument/2006/relationships/slide" Target="/ppt/slides/slide10.xml" Id="Rfb83e4fdf18b45fb" /><Relationship Type="http://schemas.openxmlformats.org/officeDocument/2006/relationships/slide" Target="/ppt/slides/slide11.xml" Id="R5d1be23019fa4ca6" /><Relationship Type="http://schemas.openxmlformats.org/officeDocument/2006/relationships/slide" Target="/ppt/slides/slide12.xml" Id="R94018405b86f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afef0e907041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a76c5516f5477d" /><Relationship Type="http://schemas.openxmlformats.org/officeDocument/2006/relationships/notesMaster" Target="/ppt/notesMasters/notesMaster1.xml" Id="R15bbc7d222544b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14ea950034b92" /><Relationship Type="http://schemas.openxmlformats.org/officeDocument/2006/relationships/notesMaster" Target="/ppt/notesMasters/notesMaster1.xml" Id="R599b03d615094c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a58fd5ee0847a9" /><Relationship Type="http://schemas.openxmlformats.org/officeDocument/2006/relationships/notesMaster" Target="/ppt/notesMasters/notesMaster1.xml" Id="R5eaff91344b141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1ae650e8af425f" /><Relationship Type="http://schemas.openxmlformats.org/officeDocument/2006/relationships/notesMaster" Target="/ppt/notesMasters/notesMaster1.xml" Id="R9efaf868eba74d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6317096a84a3e" /><Relationship Type="http://schemas.openxmlformats.org/officeDocument/2006/relationships/notesMaster" Target="/ppt/notesMasters/notesMaster1.xml" Id="R9c6d2a149fa442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45ecb00c2140f0" /><Relationship Type="http://schemas.openxmlformats.org/officeDocument/2006/relationships/notesMaster" Target="/ppt/notesMasters/notesMaster1.xml" Id="R9c7066d2ac0340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b8a7c9af504c1f" /><Relationship Type="http://schemas.openxmlformats.org/officeDocument/2006/relationships/notesMaster" Target="/ppt/notesMasters/notesMaster1.xml" Id="R653f25894f0647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7c9e0fde1a4c0e" /><Relationship Type="http://schemas.openxmlformats.org/officeDocument/2006/relationships/notesMaster" Target="/ppt/notesMasters/notesMaster1.xml" Id="Rf98b3835cde749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efbc8829984855" /><Relationship Type="http://schemas.openxmlformats.org/officeDocument/2006/relationships/notesMaster" Target="/ppt/notesMasters/notesMaster1.xml" Id="Ra2a459c1018944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b48a60540945ab" /><Relationship Type="http://schemas.openxmlformats.org/officeDocument/2006/relationships/notesMaster" Target="/ppt/notesMasters/notesMaster1.xml" Id="Rb655bd04ba0340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ccd31bfaf84357" /><Relationship Type="http://schemas.openxmlformats.org/officeDocument/2006/relationships/notesMaster" Target="/ppt/notesMasters/notesMaster1.xml" Id="R309c3253b5f74e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023ff0e2594071" /><Relationship Type="http://schemas.openxmlformats.org/officeDocument/2006/relationships/notesMaster" Target="/ppt/notesMasters/notesMaster1.xml" Id="R85ca8fdfcd4149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the stc tv product, content and analytics team. Goal: use the completed three assignments to propose service improvements. All findings describe the supplied course datasets. May and June 2018 are historical forecast periods, not a forecast for the current calendar year. This is a course assignment, not an official stc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STC_TV_Task_1_Analysis.ipynb, executed results. Course workbook stc TV Data Set_T1.xlsb, Final_Dataset.</a:t>
            </a:r>
          </a:p>
          <a:p xmlns:a="http://schemas.openxmlformats.org/drawingml/2006/main">
            <a:r>
              <a:t>Source: STC_TV_Task_2_Forecast.ipynb, executed results. Course workbook stc TV Data Set_T2.xlsx, Sheet1. Source: https://docs.google.com/spreadsheets/d/1ef5VbBgvzq7x7d833PvjhrVYMcr1pcjh/edit?gid=1631780481</a:t>
            </a:r>
          </a:p>
          <a:p xmlns:a="http://schemas.openxmlformats.org/drawingml/2006/main">
            <a:r>
              <a:t>Source: STC_TV_Task_3_Recommendations.ipynb, executed results. Course workbook stc TV Data Set_T3.xlsx, Sheet1.</a:t>
            </a:r>
          </a:p>
          <a:p xmlns:a="http://schemas.openxmlformats.org/drawingml/2006/main">
            <a:r>
              <a:t>Series SD share is event based. January to April daily average watch hours decline from 866.57 to 673.70, about 22.3%. The 28% recommendation result is a random hidden-title check on 200 eligible users, not an online business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STC_TV_Task_1_Analysis.ipynb, executed results. Course workbook stc TV Data Set_T1.xlsb, Final_Dataset.</a:t>
            </a:r>
          </a:p>
          <a:p xmlns:a="http://schemas.openxmlformats.org/drawingml/2006/main">
            <a:r>
              <a:t>Source: STC_TV_Task_2_Forecast.ipynb, executed results. Course workbook stc TV Data Set_T2.xlsx, Sheet1. Source: https://docs.google.com/spreadsheets/d/1ef5VbBgvzq7x7d833PvjhrVYMcr1pcjh/edit?gid=1631780481</a:t>
            </a:r>
          </a:p>
          <a:p xmlns:a="http://schemas.openxmlformats.org/drawingml/2006/main">
            <a:r>
              <a:t>Source: STC_TV_Task_3_Recommendations.ipynb, executed results. Course workbook stc TV Data Set_T3.xlsx, Sheet1.</a:t>
            </a:r>
          </a:p>
          <a:p xmlns:a="http://schemas.openxmlformats.org/drawingml/2006/main">
            <a:r>
              <a:t>Task 1: replaced 14,038 missing descriptions with Not provided. Retained 102,074 identical rows after removing the source index because no independent event ID proves they are erroneous. Task 2: no missing business dates or values. Task 3: no missing source values, trimmed titles, and collapsed repeat user-program views. Tasks 1 and 3 each reach the Excel sheet row limit, so the extracts may not cover all viewing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STC_TV_Task_1_Analysis.ipynb, executed results. Course workbook stc TV Data Set_T1.xlsb, Final_Dataset.</a:t>
            </a:r>
          </a:p>
          <a:p xmlns:a="http://schemas.openxmlformats.org/drawingml/2006/main">
            <a:r>
              <a:t>Movie events: 488,401. Series events: 560,174. Movie hours: 103,444.1456. Series hours: 255,097.7875. Series share of events is 53.42%, while its share of hours is 71.15%. This is descriptive and does not establish content satisfaction. Median event duration is 119 seconds, versus mean 1,230.96 seconds and maximum 1,461,329 seconds. Very long records make the mean sensitive to outliers.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STC_TV_Task_1_Analysis.ipynb, executed results. Course workbook stc TV Data Set_T1.xlsb, Final_Dataset.</a:t>
            </a:r>
          </a:p>
          <a:p xmlns:a="http://schemas.openxmlformats.org/drawingml/2006/main">
            <a:r>
              <a:t>Movie SD: 156,655 of 488,401. Movie HD: 331,746 of 488,401. Series SD: 486,884 of 560,174. Series HD: 73,290 of 560,174. These data do not identify why SD is prevalent. HD catalog availability, device capability, bandwidth and selected quality are possible explanations to test, not established causes.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STC_TV_Task_1_Analysis.ipynb, executed results. Course workbook stc TV Data Set_T1.xlsb, Final_Dataset.</a:t>
            </a:r>
          </a:p>
          <a:p xmlns:a="http://schemas.openxmlformats.org/drawingml/2006/main">
            <a:r>
              <a:t>Segments: 7,677 movie only, 3,678 both classes, 223 series only. Mostly HD or SD means more than half of that viewer's recorded events. 84.41% of movie-only viewers are mostly HD, 55.93% of viewers of both classes are mostly SD, and 73.09% of series-only viewers are mostly SD. Proposed product ideas have not been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STC_TV_Task_2_Forecast.ipynb, executed results. Course workbook stc TV Data Set_T2.xlsx, Sheet1. Source: https://docs.google.com/spreadsheets/d/1ef5VbBgvzq7x7d833PvjhrVYMcr1pcjh/edit?gid=1631780481</a:t>
            </a:r>
          </a:p>
          <a:p xmlns:a="http://schemas.openxmlformats.org/drawingml/2006/main">
            <a:r>
              <a:t>Observed monthly means: January 866.57, February 823.46, March 754.65, April 673.70 hours per observed day. Forecast means: May 607.55, June 537.60 hours per business day. Bars use averages rather than monthly totals because month lengths differ. Linear regression uses the business-day index. Holiday, promotion and content-release effects are unavailable. The cause of the observed decline is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STC_TV_Task_2_Forecast.ipynb, executed results. Course workbook stc TV Data Set_T2.xlsx, Sheet1. Source: https://docs.google.com/spreadsheets/d/1ef5VbBgvzq7x7d833PvjhrVYMcr1pcjh/edit?gid=1631780481</a:t>
            </a:r>
          </a:p>
          <a:p xmlns:a="http://schemas.openxmlformats.org/drawingml/2006/main">
            <a:r>
              <a:t>Refit on all 86 observations. Forecast covers 44 business days. May: 23 days, 13,973.58 total hours and mean 607.55. June: 21 days, 11,289.66 total hours and mean 537.60. Peak day: 1 May 2018, 642.52 hours. The highest day is the first forecast day because the selected linear trend slopes downward. Holdout: last 44 business days. Linear-trend MAE 63.72 versus last-week-repeat MAE 85.86 hours/day, about 25.8% lower error. MAE is a backtest error, not a prediction interval or a capacity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STC_TV_Task_3_Recommendations.ipynb, executed results. Course workbook stc TV Data Set_T3.xlsx, Sheet1.</a:t>
            </a:r>
          </a:p>
          <a:p xmlns:a="http://schemas.openxmlformats.org/drawingml/2006/main">
            <a:r>
              <a:t>Actual example: user 10007 watched 5 distinct programs including Moana. Their top five unseen recommendations are The Mermaid Princess, Trolls, Collateral Beauty, Surf's Up : WaveMania, and The Adventures of Petey and Friends. This slide shows the first three. The example is a recorded anonymous user history, not an invented customer story. It makes no claim about family status or emotions. Algorithm: binary user-program matrix, cosine similarity, up to 30 nearest other users, similarity-weighted average of viewing signals. Exclude previously watched titles. Ratings 1-4 have no documented meaning, so they are not used in scoring.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STC_TV_Task_3_Recommendations.ipynb, executed results. Course workbook stc TV Data Set_T3.xlsx, Sheet1.</a:t>
            </a:r>
          </a:p>
          <a:p xmlns:a="http://schemas.openxmlformats.org/drawingml/2006/main">
            <a:r>
              <a:t>Scores before rounding: 0.120325625, 0.112064863, 0.108473129, 0.105731127, 0.103299041. For a given user, a title already watched receives a zero recommendation score before averaging over the audience. The table is an audience-level ranking and does not guarantee that every member has not seen each title. Full user histories determine similarity, so titles from other genres can appear. Preserve source title spelling and punctuation.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STC_TV_Task_3_Recommendations.ipynb, executed results. Course workbook stc TV Data Set_T3.xlsx, Sheet1.</a:t>
            </a:r>
          </a:p>
          <a:p xmlns:a="http://schemas.openxmlformats.org/drawingml/2006/main">
            <a:r>
              <a:t>Reproducible sample with random seed 42. Hide one watched title per eligible sampled user, remove those relationships from the training matrix, and retrain. User-based collaborative filtering recovers 56/200 = 28.0% in the top five. Popularity baseline recovers 21/200 = 10.5%. Difference is 17.5 percentage points. This is a random holdout, not a chronological future test, online click-through rate, or measured retention improvement. Availability, release dates and users without history are not modeled.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STC_TV_Task_1_Analysis.ipynb, executed results. Course workbook stc TV Data Set_T1.xlsb, Final_Dataset.</a:t>
            </a:r>
          </a:p>
          <a:p xmlns:a="http://schemas.openxmlformats.org/drawingml/2006/main">
            <a:r>
              <a:t>Source: STC_TV_Task_2_Forecast.ipynb, executed results. Course workbook stc TV Data Set_T2.xlsx, Sheet1. Source: https://docs.google.com/spreadsheets/d/1ef5VbBgvzq7x7d833PvjhrVYMcr1pcjh/edit?gid=1631780481</a:t>
            </a:r>
          </a:p>
          <a:p xmlns:a="http://schemas.openxmlformats.org/drawingml/2006/main">
            <a:r>
              <a:t>Source: STC_TV_Task_3_Recommendations.ipynb, executed results. Course workbook stc TV Data Set_T3.xlsx, Sheet1.</a:t>
            </a:r>
          </a:p>
          <a:p xmlns:a="http://schemas.openxmlformats.org/drawingml/2006/main">
            <a:r>
              <a:t>Proposed plan, not a claim of completed deployment. Weeks 1-2: playback/content teams audit series HD availability and telemetry, analytics adds daily views plus hourly/weekend/holiday data. Weeks 3-4: product and analytics run a controlled recommendation test against popularity, with watched and unavailable titles excluded. Track recommendation-to-play rate, completion and buffering. Users with no history may start with available popular titles. Refresh forecasts and evaluate chronological errors. Further checks: source extract coverage, repeated event logging, extreme durations and undocumented rating definitions. No invented KPI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4e1b0c098149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e3b1f7f42b438f" /><Relationship Type="http://schemas.openxmlformats.org/officeDocument/2006/relationships/slideLayout" Target="/ppt/slideLayouts/slideLayout1.xml" Id="Rb680dc50308540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80dc50308540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495ef0aecf4707" /><Relationship Type="http://schemas.openxmlformats.org/officeDocument/2006/relationships/notesSlide" Target="/ppt/notesSlides/notesSlide1.xml" Id="Ra42816744cb642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147541c0164e23" /><Relationship Type="http://schemas.openxmlformats.org/officeDocument/2006/relationships/notesSlide" Target="/ppt/notesSlides/notesSlide2.xml" Id="Ra2d4dab3fb6447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d215f933054ded" /><Relationship Type="http://schemas.openxmlformats.org/officeDocument/2006/relationships/notesSlide" Target="/ppt/notesSlides/notesSlide3.xml" Id="R32fff697ccf345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7745e5fecc45a9" /><Relationship Type="http://schemas.openxmlformats.org/officeDocument/2006/relationships/chart" Target="/ppt/slides/charts/chart1.xml" Id="R308fff059bd54c21" /><Relationship Type="http://schemas.openxmlformats.org/officeDocument/2006/relationships/notesSlide" Target="/ppt/notesSlides/notesSlide4.xml" Id="R47ba4ad2d7e74f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261abc10e64a60" /><Relationship Type="http://schemas.openxmlformats.org/officeDocument/2006/relationships/chart" Target="/ppt/slides/charts/chart2.xml" Id="R0c2376f225c34344" /><Relationship Type="http://schemas.openxmlformats.org/officeDocument/2006/relationships/notesSlide" Target="/ppt/notesSlides/notesSlide5.xml" Id="R908c88e5b1b249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f17aed32474218" /><Relationship Type="http://schemas.openxmlformats.org/officeDocument/2006/relationships/notesSlide" Target="/ppt/notesSlides/notesSlide6.xml" Id="R63fe2acf397c46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59e70a561f470f" /><Relationship Type="http://schemas.openxmlformats.org/officeDocument/2006/relationships/chart" Target="/ppt/slides/charts/chart3.xml" Id="R73cbb10bcb114fa6" /><Relationship Type="http://schemas.openxmlformats.org/officeDocument/2006/relationships/notesSlide" Target="/ppt/notesSlides/notesSlide7.xml" Id="R83b9783fb0314d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2f628dd7fe4212" /><Relationship Type="http://schemas.openxmlformats.org/officeDocument/2006/relationships/notesSlide" Target="/ppt/notesSlides/notesSlide8.xml" Id="R196c3ca5fbb248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2858e28a7d413e" /><Relationship Type="http://schemas.openxmlformats.org/officeDocument/2006/relationships/notesSlide" Target="/ppt/notesSlides/notesSlide9.xml" Id="R317cfb53c4e747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3de11e57a64dc5" /><Relationship Type="http://schemas.openxmlformats.org/officeDocument/2006/relationships/notesSlide" Target="/ppt/notesSlides/notesSlide10.xml" Id="Ra595bfb5aa3e4f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eb212f971c45e5" /><Relationship Type="http://schemas.openxmlformats.org/officeDocument/2006/relationships/chart" Target="/ppt/slides/charts/chart4.xml" Id="R7296b66fd1d640de" /><Relationship Type="http://schemas.openxmlformats.org/officeDocument/2006/relationships/notesSlide" Target="/ppt/notesSlides/notesSlide11.xml" Id="R5d3ce56e963c40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2a5e2d9a544a6d" /><Relationship Type="http://schemas.openxmlformats.org/officeDocument/2006/relationships/notesSlide" Target="/ppt/notesSlides/notesSlide12.xml" Id="Rb07a7b4e98dd4990" /></Relationships>
</file>

<file path=ppt/slides/charts/chart1.xml><?xml version="1.0" encoding="utf-8"?>
<c:chartSpace xmlns:c="http://schemas.openxmlformats.org/drawingml/2006/chart">
  <c:lang val="en-US"/>
  <c:chart>
    <c:plotArea>
      <c:barChart>
        <c:barDir val="col"/>
        <c:grouping val="clustered"/>
        <c:varyColors val="0"/>
        <c:ser>
          <c:idx val="0"/>
          <c:order val="0"/>
          <c:tx>
            <c:v>Viewing events</c:v>
          </c:tx>
          <c:spPr>
            <a:solidFill xmlns:a="http://schemas.openxmlformats.org/drawingml/2006/main">
              <a:srgbClr val="EA5360"/>
            </a:solidFill>
          </c:spPr>
          <c:cat>
            <c:strLit>
              <c:ptCount val="2"/>
              <c:pt idx="0">
                <c:v>Movies</c:v>
              </c:pt>
              <c:pt idx="1">
                <c:v>Series</c:v>
              </c:pt>
            </c:strLit>
          </c:cat>
          <c:val>
            <c:numLit>
              <c:formatCode>0.0%</c:formatCode>
              <c:ptCount val="2"/>
              <c:pt idx="0">
                <c:v>0.46577593400567435</c:v>
              </c:pt>
              <c:pt idx="1">
                <c:v>0.5342240659943256</c:v>
              </c:pt>
            </c:numLit>
          </c:val>
        </c:ser>
        <c:ser>
          <c:idx val="1"/>
          <c:order val="1"/>
          <c:tx>
            <c:v>Watch hours</c:v>
          </c:tx>
          <c:spPr>
            <a:solidFill xmlns:a="http://schemas.openxmlformats.org/drawingml/2006/main">
              <a:srgbClr val="4F008C"/>
            </a:solidFill>
          </c:spPr>
          <c:cat>
            <c:strLit>
              <c:ptCount val="2"/>
              <c:pt idx="0">
                <c:v>Movies</c:v>
              </c:pt>
              <c:pt idx="1">
                <c:v>Series</c:v>
              </c:pt>
            </c:strLit>
          </c:cat>
          <c:val>
            <c:numLit>
              <c:formatCode>0.0%</c:formatCode>
              <c:ptCount val="2"/>
              <c:pt idx="0">
                <c:v>0.28851338170017804</c:v>
              </c:pt>
              <c:pt idx="1">
                <c:v>0.711486618299822</c:v>
              </c:pt>
            </c:numLit>
          </c:val>
        </c:ser>
        <c:dLbls>
          <c:txPr>
            <a:bodyPr xmlns:a="http://schemas.openxmlformats.org/drawingml/2006/main" anchorCtr="1"/>
            <a:lstStyle xmlns:a="http://schemas.openxmlformats.org/drawingml/2006/main"/>
            <a:p xmlns:a="http://schemas.openxmlformats.org/drawingml/2006/main">
              <a:pPr>
                <a:defRPr sz="1800" b="1">
                  <a:solidFill>
                    <a:srgbClr val="24123B"/>
                  </a:solidFill>
                  <a:latin typeface="Arial"/>
                  <a:ea typeface="Arial"/>
                  <a:cs typeface="Arial"/>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6E5"/>
            </a:solidFill>
          </a:ln>
        </c:spPr>
        <c:txPr>
          <a:bodyPr xmlns:a="http://schemas.openxmlformats.org/drawingml/2006/main" anchorCtr="1"/>
          <a:lstStyle xmlns:a="http://schemas.openxmlformats.org/drawingml/2006/main"/>
          <a:p xmlns:a="http://schemas.openxmlformats.org/drawingml/2006/main">
            <a:pPr>
              <a:defRPr sz="1650">
                <a:solidFill>
                  <a:srgbClr val="655C7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D6E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5C70"/>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4123B"/>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stacked"/>
        <c:varyColors val="0"/>
        <c:ser>
          <c:idx val="0"/>
          <c:order val="0"/>
          <c:tx>
            <c:v>SD</c:v>
          </c:tx>
          <c:spPr>
            <a:solidFill xmlns:a="http://schemas.openxmlformats.org/drawingml/2006/main">
              <a:srgbClr val="4F008C"/>
            </a:solidFill>
          </c:spPr>
          <c:cat>
            <c:strLit>
              <c:ptCount val="2"/>
              <c:pt idx="0">
                <c:v>Movies</c:v>
              </c:pt>
              <c:pt idx="1">
                <c:v>Series</c:v>
              </c:pt>
            </c:strLit>
          </c:cat>
          <c:val>
            <c:numLit>
              <c:formatCode>0.0%</c:formatCode>
              <c:ptCount val="2"/>
              <c:pt idx="0">
                <c:v>0.3207507765135616</c:v>
              </c:pt>
              <c:pt idx="1">
                <c:v>0.8691656521009543</c:v>
              </c:pt>
            </c:numLit>
          </c:val>
        </c:ser>
        <c:ser>
          <c:idx val="1"/>
          <c:order val="1"/>
          <c:tx>
            <c:v>HD</c:v>
          </c:tx>
          <c:spPr>
            <a:solidFill xmlns:a="http://schemas.openxmlformats.org/drawingml/2006/main">
              <a:srgbClr val="EA5360"/>
            </a:solidFill>
          </c:spPr>
          <c:cat>
            <c:strLit>
              <c:ptCount val="2"/>
              <c:pt idx="0">
                <c:v>Movies</c:v>
              </c:pt>
              <c:pt idx="1">
                <c:v>Series</c:v>
              </c:pt>
            </c:strLit>
          </c:cat>
          <c:val>
            <c:numLit>
              <c:formatCode>0.0%</c:formatCode>
              <c:ptCount val="2"/>
              <c:pt idx="0">
                <c:v>0.6792492234864383</c:v>
              </c:pt>
              <c:pt idx="1">
                <c:v>0.13083434789904566</c:v>
              </c:pt>
            </c:numLit>
          </c:val>
        </c:ser>
        <c:dLbls>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8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6E5"/>
            </a:solidFill>
          </a:ln>
        </c:spPr>
        <c:txPr>
          <a:bodyPr xmlns:a="http://schemas.openxmlformats.org/drawingml/2006/main" anchorCtr="1"/>
          <a:lstStyle xmlns:a="http://schemas.openxmlformats.org/drawingml/2006/main"/>
          <a:p xmlns:a="http://schemas.openxmlformats.org/drawingml/2006/main">
            <a:pPr>
              <a:defRPr sz="1650">
                <a:solidFill>
                  <a:srgbClr val="655C7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D6E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5C70"/>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4123B"/>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Hours per business day</c:v>
          </c:tx>
          <c:spPr>
            <a:solidFill xmlns:a="http://schemas.openxmlformats.org/drawingml/2006/main">
              <a:srgbClr val="4F008C"/>
            </a:solidFill>
          </c:spPr>
          <c:dPt>
            <c:idx val="4"/>
            <c:invertIfNegative val="0"/>
            <c:spPr>
              <a:solidFill xmlns:a="http://schemas.openxmlformats.org/drawingml/2006/main">
                <a:srgbClr val="EA5360"/>
              </a:solidFill>
            </c:spPr>
          </c:dPt>
          <c:dPt>
            <c:idx val="5"/>
            <c:invertIfNegative val="0"/>
            <c:spPr>
              <a:solidFill xmlns:a="http://schemas.openxmlformats.org/drawingml/2006/main">
                <a:srgbClr val="EA5360"/>
              </a:solidFill>
            </c:spPr>
          </c:dPt>
          <c:cat>
            <c:strLit>
              <c:ptCount val="6"/>
              <c:pt idx="0">
                <c:v>Jan</c:v>
              </c:pt>
              <c:pt idx="1">
                <c:v>Feb</c:v>
              </c:pt>
              <c:pt idx="2">
                <c:v>Mar</c:v>
              </c:pt>
              <c:pt idx="3">
                <c:v>Apr</c:v>
              </c:pt>
              <c:pt idx="4">
                <c:v>May</c:v>
              </c:pt>
              <c:pt idx="5">
                <c:v>Jun</c:v>
              </c:pt>
            </c:strLit>
          </c:cat>
          <c:val>
            <c:numLit>
              <c:formatCode>0</c:formatCode>
              <c:ptCount val="6"/>
              <c:pt idx="0">
                <c:v>866.57</c:v>
              </c:pt>
              <c:pt idx="1">
                <c:v>823.46</c:v>
              </c:pt>
              <c:pt idx="2">
                <c:v>754.65</c:v>
              </c:pt>
              <c:pt idx="3">
                <c:v>673.7</c:v>
              </c:pt>
              <c:pt idx="4">
                <c:v>607.55</c:v>
              </c:pt>
              <c:pt idx="5">
                <c:v>537.6</c:v>
              </c:pt>
            </c:numLit>
          </c:val>
        </c:ser>
        <c:dLbls>
          <c:txPr>
            <a:bodyPr xmlns:a="http://schemas.openxmlformats.org/drawingml/2006/main" anchorCtr="1"/>
            <a:lstStyle xmlns:a="http://schemas.openxmlformats.org/drawingml/2006/main"/>
            <a:p xmlns:a="http://schemas.openxmlformats.org/drawingml/2006/main">
              <a:pPr>
                <a:defRPr sz="1800" b="1">
                  <a:solidFill>
                    <a:srgbClr val="24123B"/>
                  </a:solidFill>
                  <a:latin typeface="Arial"/>
                  <a:ea typeface="Arial"/>
                  <a:cs typeface="Arial"/>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6E5"/>
            </a:solidFill>
          </a:ln>
        </c:spPr>
        <c:txPr>
          <a:bodyPr xmlns:a="http://schemas.openxmlformats.org/drawingml/2006/main" anchorCtr="1"/>
          <a:lstStyle xmlns:a="http://schemas.openxmlformats.org/drawingml/2006/main"/>
          <a:p xmlns:a="http://schemas.openxmlformats.org/drawingml/2006/main">
            <a:pPr>
              <a:defRPr sz="1650">
                <a:solidFill>
                  <a:srgbClr val="655C70"/>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DD6E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5C7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Hit rate at 5</c:v>
          </c:tx>
          <c:spPr>
            <a:solidFill xmlns:a="http://schemas.openxmlformats.org/drawingml/2006/main">
              <a:srgbClr val="4F008C"/>
            </a:solidFill>
          </c:spPr>
          <c:dPt>
            <c:idx val="0"/>
            <c:invertIfNegative val="0"/>
            <c:spPr>
              <a:solidFill xmlns:a="http://schemas.openxmlformats.org/drawingml/2006/main">
                <a:srgbClr val="EA5360"/>
              </a:solidFill>
            </c:spPr>
          </c:dPt>
          <c:cat>
            <c:strLit>
              <c:ptCount val="2"/>
              <c:pt idx="0">
                <c:v>Popularity baseline</c:v>
              </c:pt>
              <c:pt idx="1">
                <c:v>Similar viewers</c:v>
              </c:pt>
            </c:strLit>
          </c:cat>
          <c:val>
            <c:numLit>
              <c:formatCode>0.0%</c:formatCode>
              <c:ptCount val="2"/>
              <c:pt idx="0">
                <c:v>0.105</c:v>
              </c:pt>
              <c:pt idx="1">
                <c:v>0.28</c:v>
              </c:pt>
            </c:numLit>
          </c:val>
        </c:ser>
        <c:dLbls>
          <c:txPr>
            <a:bodyPr xmlns:a="http://schemas.openxmlformats.org/drawingml/2006/main" anchorCtr="1"/>
            <a:lstStyle xmlns:a="http://schemas.openxmlformats.org/drawingml/2006/main"/>
            <a:p xmlns:a="http://schemas.openxmlformats.org/drawingml/2006/main">
              <a:pPr>
                <a:defRPr sz="1800" b="1">
                  <a:solidFill>
                    <a:srgbClr val="24123B"/>
                  </a:solidFill>
                  <a:latin typeface="Arial"/>
                  <a:ea typeface="Arial"/>
                  <a:cs typeface="Arial"/>
                </a:defRPr>
              </a:pPr>
            </a:p>
          </c:txPr>
          <c:dLblPos val="outEnd"/>
          <c:showLegendKey val="0"/>
          <c:showVal val="1"/>
          <c:showCatName val="0"/>
          <c:showSerName val="0"/>
          <c:showPercent val="0"/>
          <c:showBubbleSize val="0"/>
          <c:showLeaderLines val="0"/>
        </c:dLbls>
        <c:gapWidth val="8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6E5"/>
            </a:solidFill>
          </a:ln>
        </c:spPr>
        <c:txPr>
          <a:bodyPr xmlns:a="http://schemas.openxmlformats.org/drawingml/2006/main" anchorCtr="1"/>
          <a:lstStyle xmlns:a="http://schemas.openxmlformats.org/drawingml/2006/main"/>
          <a:p xmlns:a="http://schemas.openxmlformats.org/drawingml/2006/main">
            <a:pPr>
              <a:defRPr sz="1650">
                <a:solidFill>
                  <a:srgbClr val="655C70"/>
                </a:solidFill>
                <a:latin typeface="Arial"/>
                <a:ea typeface="Arial"/>
                <a:cs typeface="Arial"/>
              </a:defRPr>
            </a:pPr>
          </a:p>
        </c:txPr>
        <c:crossAx val="48672768"/>
      </c:catAx>
      <c:valAx>
        <c:axId val="48672768"/>
        <c:scaling>
          <c:orientation val="minMax"/>
          <c:max val="0.4"/>
          <c:min val="0"/>
        </c:scaling>
        <c:delete val="0"/>
        <c:axPos val="l"/>
        <c:majorGridlines>
          <c:spPr>
            <a:ln xmlns:a="http://schemas.openxmlformats.org/drawingml/2006/main" w="9525">
              <a:solidFill>
                <a:srgbClr val="DDD6E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55C7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4F008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D6747D1-9A55-45A0-B649-8C64AADE0A3D}"/>
              </a:ext>
            </a:extLst>
          </p:cNvPr>
          <p:cNvSpPr>
            <a:spLocks xmlns:a="http://schemas.openxmlformats.org/drawingml/2006/main" noGrp="1"/>
          </p:cNvSpPr>
          <p:nvPr/>
        </p:nvSpPr>
        <p:spPr>
          <a:xfrm xmlns:a="http://schemas.openxmlformats.org/drawingml/2006/main">
            <a:off x="685800" y="66675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stc tv</a:t>
            </a:r>
          </a:p>
        </p:txBody>
      </p:sp>
      <p:sp>
        <p:nvSpPr>
          <p:cNvPr id="2" name="">
            <a:extLst xmlns:a="http://schemas.openxmlformats.org/drawingml/2006/main">
              <a:ext uri="{FF2B5EF4-FFF2-40B4-BE49-F238E27FC236}">
                <a16:creationId xmlns:a16="http://schemas.microsoft.com/office/drawing/2014/main" id="{5CECEF2D-6C23-42D3-9C62-FE4985F00688}"/>
              </a:ext>
            </a:extLst>
          </p:cNvPr>
          <p:cNvSpPr>
            <a:spLocks xmlns:a="http://schemas.openxmlformats.org/drawingml/2006/main" noGrp="1"/>
          </p:cNvSpPr>
          <p:nvPr/>
        </p:nvSpPr>
        <p:spPr>
          <a:xfrm xmlns:a="http://schemas.openxmlformats.org/drawingml/2006/main">
            <a:off x="685800" y="2095500"/>
            <a:ext cx="108204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Understanding viewers</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and improving their experience</a:t>
            </a:r>
          </a:p>
        </p:txBody>
      </p:sp>
      <p:sp>
        <p:nvSpPr>
          <p:cNvPr id="3" name="">
            <a:extLst xmlns:a="http://schemas.openxmlformats.org/drawingml/2006/main">
              <a:ext uri="{FF2B5EF4-FFF2-40B4-BE49-F238E27FC236}">
                <a16:creationId xmlns:a16="http://schemas.microsoft.com/office/drawing/2014/main" id="{0EDA1984-F638-4206-97AC-B9E5499AC9BD}"/>
              </a:ext>
            </a:extLst>
          </p:cNvPr>
          <p:cNvSpPr>
            <a:spLocks xmlns:a="http://schemas.openxmlformats.org/drawingml/2006/main" noGrp="1"/>
          </p:cNvSpPr>
          <p:nvPr/>
        </p:nvSpPr>
        <p:spPr>
          <a:xfrm xmlns:a="http://schemas.openxmlformats.org/drawingml/2006/main">
            <a:off x="685800" y="509587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Task 4: Data storytelling</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Virtual Data Analytics Experience</a:t>
            </a:r>
          </a:p>
        </p:txBody>
      </p:sp>
    </p:spTree>
    <p:extLst>
      <p:ext uri="{BB962C8B-B14F-4D97-AF65-F5344CB8AC3E}">
        <p14:creationId xmlns:p14="http://schemas.microsoft.com/office/powerpoint/2010/main" val="11309933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760446-AB33-4BFF-91D4-58F6A46D3BD8}"/>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Service priorities from the analysis</a:t>
            </a:r>
          </a:p>
        </p:txBody>
      </p:sp>
      <p:sp>
        <p:nvSpPr>
          <p:cNvPr id="2" name="">
            <a:extLst xmlns:a="http://schemas.openxmlformats.org/drawingml/2006/main">
              <a:ext uri="{FF2B5EF4-FFF2-40B4-BE49-F238E27FC236}">
                <a16:creationId xmlns:a16="http://schemas.microsoft.com/office/drawing/2014/main" id="{736AF045-1889-48B0-BC66-9730B1ADFC02}"/>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Course datasets and executed results from Tasks 1, 2 and 3</a:t>
            </a:r>
          </a:p>
        </p:txBody>
      </p:sp>
      <p:sp>
        <p:nvSpPr>
          <p:cNvPr id="3" name="">
            <a:extLst xmlns:a="http://schemas.openxmlformats.org/drawingml/2006/main">
              <a:ext uri="{FF2B5EF4-FFF2-40B4-BE49-F238E27FC236}">
                <a16:creationId xmlns:a16="http://schemas.microsoft.com/office/drawing/2014/main" id="{40E94AEA-4FF2-4C06-877E-893BEE40CD83}"/>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C38FA18E-8F4C-4DF6-9D4A-500652285EFA}"/>
              </a:ext>
            </a:extLst>
          </p:cNvPr>
          <p:cNvSpPr>
            <a:spLocks xmlns:a="http://schemas.openxmlformats.org/drawingml/2006/main" noGrp="1"/>
          </p:cNvSpPr>
          <p:nvPr/>
        </p:nvSpPr>
        <p:spPr>
          <a:xfrm xmlns:a="http://schemas.openxmlformats.org/drawingml/2006/main">
            <a:off x="609600" y="18383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4F008C"/>
                </a:solidFill>
                <a:latin typeface="Arial"/>
                <a:ea typeface="Arial"/>
                <a:cs typeface="Arial"/>
              </a:defRPr>
            </a:pPr>
            <a:r>
              <a:rPr sz="4800" b="1">
                <a:solidFill>
                  <a:srgbClr val="4F008C"/>
                </a:solidFill>
                <a:latin typeface="Arial"/>
                <a:ea typeface="Arial"/>
                <a:cs typeface="Arial"/>
              </a:rPr>
              <a:t>86.9%</a:t>
            </a:r>
          </a:p>
        </p:txBody>
      </p:sp>
      <p:sp>
        <p:nvSpPr>
          <p:cNvPr id="5" name="">
            <a:extLst xmlns:a="http://schemas.openxmlformats.org/drawingml/2006/main">
              <a:ext uri="{FF2B5EF4-FFF2-40B4-BE49-F238E27FC236}">
                <a16:creationId xmlns:a16="http://schemas.microsoft.com/office/drawing/2014/main" id="{44A87CA8-E214-489D-B873-2877ACA9C8AC}"/>
              </a:ext>
            </a:extLst>
          </p:cNvPr>
          <p:cNvSpPr>
            <a:spLocks xmlns:a="http://schemas.openxmlformats.org/drawingml/2006/main" noGrp="1"/>
          </p:cNvSpPr>
          <p:nvPr/>
        </p:nvSpPr>
        <p:spPr>
          <a:xfrm xmlns:a="http://schemas.openxmlformats.org/drawingml/2006/main">
            <a:off x="3333750" y="1905000"/>
            <a:ext cx="7762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4123B"/>
                </a:solidFill>
                <a:latin typeface="Arial"/>
                <a:ea typeface="Arial"/>
                <a:cs typeface="Arial"/>
              </a:defRPr>
            </a:pPr>
            <a:r>
              <a:rPr sz="2250" b="1">
                <a:solidFill>
                  <a:srgbClr val="24123B"/>
                </a:solidFill>
                <a:latin typeface="Arial"/>
                <a:ea typeface="Arial"/>
                <a:cs typeface="Arial"/>
              </a:rPr>
              <a:t>of series viewing events use SD</a:t>
            </a:r>
          </a:p>
        </p:txBody>
      </p:sp>
      <p:sp>
        <p:nvSpPr>
          <p:cNvPr id="6" name="">
            <a:extLst xmlns:a="http://schemas.openxmlformats.org/drawingml/2006/main">
              <a:ext uri="{FF2B5EF4-FFF2-40B4-BE49-F238E27FC236}">
                <a16:creationId xmlns:a16="http://schemas.microsoft.com/office/drawing/2014/main" id="{D8EC338C-7515-4209-A5D3-384DF8574564}"/>
              </a:ext>
            </a:extLst>
          </p:cNvPr>
          <p:cNvSpPr>
            <a:spLocks xmlns:a="http://schemas.openxmlformats.org/drawingml/2006/main" noGrp="1"/>
          </p:cNvSpPr>
          <p:nvPr/>
        </p:nvSpPr>
        <p:spPr>
          <a:xfrm xmlns:a="http://schemas.openxmlformats.org/drawingml/2006/main">
            <a:off x="3333750" y="2400300"/>
            <a:ext cx="7762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655C70"/>
                </a:solidFill>
                <a:latin typeface="Arial"/>
                <a:ea typeface="Arial"/>
                <a:cs typeface="Arial"/>
              </a:defRPr>
            </a:pPr>
            <a:r>
              <a:rPr sz="1950" b="0">
                <a:solidFill>
                  <a:srgbClr val="655C70"/>
                </a:solidFill>
                <a:latin typeface="Arial"/>
                <a:ea typeface="Arial"/>
                <a:cs typeface="Arial"/>
              </a:rPr>
              <a:t>Review HD availability and playback conditions for series.</a:t>
            </a:r>
          </a:p>
        </p:txBody>
      </p:sp>
      <p:sp>
        <p:nvSpPr>
          <p:cNvPr id="7" name="">
            <a:extLst xmlns:a="http://schemas.openxmlformats.org/drawingml/2006/main">
              <a:ext uri="{FF2B5EF4-FFF2-40B4-BE49-F238E27FC236}">
                <a16:creationId xmlns:a16="http://schemas.microsoft.com/office/drawing/2014/main" id="{6C421A3C-2C29-4C41-ABAB-C080234F5E60}"/>
              </a:ext>
            </a:extLst>
          </p:cNvPr>
          <p:cNvSpPr>
            <a:spLocks xmlns:a="http://schemas.openxmlformats.org/drawingml/2006/main" noGrp="1"/>
          </p:cNvSpPr>
          <p:nvPr/>
        </p:nvSpPr>
        <p:spPr>
          <a:xfrm xmlns:a="http://schemas.openxmlformats.org/drawingml/2006/main">
            <a:off x="609600" y="33623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4F008C"/>
                </a:solidFill>
                <a:latin typeface="Arial"/>
                <a:ea typeface="Arial"/>
                <a:cs typeface="Arial"/>
              </a:defRPr>
            </a:pPr>
            <a:r>
              <a:rPr sz="4800" b="1">
                <a:solidFill>
                  <a:srgbClr val="4F008C"/>
                </a:solidFill>
                <a:latin typeface="Arial"/>
                <a:ea typeface="Arial"/>
                <a:cs typeface="Arial"/>
              </a:rPr>
              <a:t>22.3%</a:t>
            </a:r>
          </a:p>
        </p:txBody>
      </p:sp>
      <p:sp>
        <p:nvSpPr>
          <p:cNvPr id="8" name="">
            <a:extLst xmlns:a="http://schemas.openxmlformats.org/drawingml/2006/main">
              <a:ext uri="{FF2B5EF4-FFF2-40B4-BE49-F238E27FC236}">
                <a16:creationId xmlns:a16="http://schemas.microsoft.com/office/drawing/2014/main" id="{024C4D93-2A35-43A3-95BE-927F54112EEA}"/>
              </a:ext>
            </a:extLst>
          </p:cNvPr>
          <p:cNvSpPr>
            <a:spLocks xmlns:a="http://schemas.openxmlformats.org/drawingml/2006/main" noGrp="1"/>
          </p:cNvSpPr>
          <p:nvPr/>
        </p:nvSpPr>
        <p:spPr>
          <a:xfrm xmlns:a="http://schemas.openxmlformats.org/drawingml/2006/main">
            <a:off x="3333750" y="3429000"/>
            <a:ext cx="7762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4123B"/>
                </a:solidFill>
                <a:latin typeface="Arial"/>
                <a:ea typeface="Arial"/>
                <a:cs typeface="Arial"/>
              </a:defRPr>
            </a:pPr>
            <a:r>
              <a:rPr sz="2250" b="1">
                <a:solidFill>
                  <a:srgbClr val="24123B"/>
                </a:solidFill>
                <a:latin typeface="Arial"/>
                <a:ea typeface="Arial"/>
                <a:cs typeface="Arial"/>
              </a:rPr>
              <a:t>decline in daily watch hours, January to April</a:t>
            </a:r>
          </a:p>
        </p:txBody>
      </p:sp>
      <p:sp>
        <p:nvSpPr>
          <p:cNvPr id="9" name="">
            <a:extLst xmlns:a="http://schemas.openxmlformats.org/drawingml/2006/main">
              <a:ext uri="{FF2B5EF4-FFF2-40B4-BE49-F238E27FC236}">
                <a16:creationId xmlns:a16="http://schemas.microsoft.com/office/drawing/2014/main" id="{AEDCCE83-84C6-4404-92D0-540BA77738CA}"/>
              </a:ext>
            </a:extLst>
          </p:cNvPr>
          <p:cNvSpPr>
            <a:spLocks xmlns:a="http://schemas.openxmlformats.org/drawingml/2006/main" noGrp="1"/>
          </p:cNvSpPr>
          <p:nvPr/>
        </p:nvSpPr>
        <p:spPr>
          <a:xfrm xmlns:a="http://schemas.openxmlformats.org/drawingml/2006/main">
            <a:off x="3333750" y="3924300"/>
            <a:ext cx="7762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655C70"/>
                </a:solidFill>
                <a:latin typeface="Arial"/>
                <a:ea typeface="Arial"/>
                <a:cs typeface="Arial"/>
              </a:defRPr>
            </a:pPr>
            <a:r>
              <a:rPr sz="1950" b="0">
                <a:solidFill>
                  <a:srgbClr val="655C70"/>
                </a:solidFill>
                <a:latin typeface="Arial"/>
                <a:ea typeface="Arial"/>
                <a:cs typeface="Arial"/>
              </a:rPr>
              <a:t>Use the historical trend to plan capacity and test engagement ideas.</a:t>
            </a:r>
          </a:p>
        </p:txBody>
      </p:sp>
      <p:sp>
        <p:nvSpPr>
          <p:cNvPr id="10" name="">
            <a:extLst xmlns:a="http://schemas.openxmlformats.org/drawingml/2006/main">
              <a:ext uri="{FF2B5EF4-FFF2-40B4-BE49-F238E27FC236}">
                <a16:creationId xmlns:a16="http://schemas.microsoft.com/office/drawing/2014/main" id="{48CDE0B2-32A3-4D17-A18E-975CB93D6867}"/>
              </a:ext>
            </a:extLst>
          </p:cNvPr>
          <p:cNvSpPr>
            <a:spLocks xmlns:a="http://schemas.openxmlformats.org/drawingml/2006/main" noGrp="1"/>
          </p:cNvSpPr>
          <p:nvPr/>
        </p:nvSpPr>
        <p:spPr>
          <a:xfrm xmlns:a="http://schemas.openxmlformats.org/drawingml/2006/main">
            <a:off x="609600" y="48863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800" b="1">
                <a:solidFill>
                  <a:srgbClr val="4F008C"/>
                </a:solidFill>
                <a:latin typeface="Arial"/>
                <a:ea typeface="Arial"/>
                <a:cs typeface="Arial"/>
              </a:defRPr>
            </a:pPr>
            <a:r>
              <a:rPr sz="4800" b="1">
                <a:solidFill>
                  <a:srgbClr val="4F008C"/>
                </a:solidFill>
                <a:latin typeface="Arial"/>
                <a:ea typeface="Arial"/>
                <a:cs typeface="Arial"/>
              </a:rPr>
              <a:t>28.0%</a:t>
            </a:r>
          </a:p>
        </p:txBody>
      </p:sp>
      <p:sp>
        <p:nvSpPr>
          <p:cNvPr id="11" name="">
            <a:extLst xmlns:a="http://schemas.openxmlformats.org/drawingml/2006/main">
              <a:ext uri="{FF2B5EF4-FFF2-40B4-BE49-F238E27FC236}">
                <a16:creationId xmlns:a16="http://schemas.microsoft.com/office/drawing/2014/main" id="{9F1AF6E7-7215-454F-A7A7-06F9ACE63055}"/>
              </a:ext>
            </a:extLst>
          </p:cNvPr>
          <p:cNvSpPr>
            <a:spLocks xmlns:a="http://schemas.openxmlformats.org/drawingml/2006/main" noGrp="1"/>
          </p:cNvSpPr>
          <p:nvPr/>
        </p:nvSpPr>
        <p:spPr>
          <a:xfrm xmlns:a="http://schemas.openxmlformats.org/drawingml/2006/main">
            <a:off x="3333750" y="4953000"/>
            <a:ext cx="7762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4123B"/>
                </a:solidFill>
                <a:latin typeface="Arial"/>
                <a:ea typeface="Arial"/>
                <a:cs typeface="Arial"/>
              </a:defRPr>
            </a:pPr>
            <a:r>
              <a:rPr sz="2250" b="1">
                <a:solidFill>
                  <a:srgbClr val="24123B"/>
                </a:solidFill>
                <a:latin typeface="Arial"/>
                <a:ea typeface="Arial"/>
                <a:cs typeface="Arial"/>
              </a:rPr>
              <a:t>of hidden titles appear in the top five</a:t>
            </a:r>
          </a:p>
        </p:txBody>
      </p:sp>
      <p:sp>
        <p:nvSpPr>
          <p:cNvPr id="12" name="">
            <a:extLst xmlns:a="http://schemas.openxmlformats.org/drawingml/2006/main">
              <a:ext uri="{FF2B5EF4-FFF2-40B4-BE49-F238E27FC236}">
                <a16:creationId xmlns:a16="http://schemas.microsoft.com/office/drawing/2014/main" id="{ADF9F840-7646-4898-BDF8-05B6FD48A71D}"/>
              </a:ext>
            </a:extLst>
          </p:cNvPr>
          <p:cNvSpPr>
            <a:spLocks xmlns:a="http://schemas.openxmlformats.org/drawingml/2006/main" noGrp="1"/>
          </p:cNvSpPr>
          <p:nvPr/>
        </p:nvSpPr>
        <p:spPr>
          <a:xfrm xmlns:a="http://schemas.openxmlformats.org/drawingml/2006/main">
            <a:off x="3333750" y="5448300"/>
            <a:ext cx="7762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655C70"/>
                </a:solidFill>
                <a:latin typeface="Arial"/>
                <a:ea typeface="Arial"/>
                <a:cs typeface="Arial"/>
              </a:defRPr>
            </a:pPr>
            <a:r>
              <a:rPr sz="1950" b="0">
                <a:solidFill>
                  <a:srgbClr val="655C70"/>
                </a:solidFill>
                <a:latin typeface="Arial"/>
                <a:ea typeface="Arial"/>
                <a:cs typeface="Arial"/>
              </a:rPr>
              <a:t>Pilot recommendations from similar viewers.</a:t>
            </a:r>
          </a:p>
        </p:txBody>
      </p:sp>
    </p:spTree>
    <p:extLst>
      <p:ext uri="{BB962C8B-B14F-4D97-AF65-F5344CB8AC3E}">
        <p14:creationId xmlns:p14="http://schemas.microsoft.com/office/powerpoint/2010/main" val="12651099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8DFC1F-1286-4AD4-A1CE-B11399B09868}"/>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Data scope and preparation</a:t>
            </a:r>
          </a:p>
        </p:txBody>
      </p:sp>
      <p:sp>
        <p:nvSpPr>
          <p:cNvPr id="2" name="">
            <a:extLst xmlns:a="http://schemas.openxmlformats.org/drawingml/2006/main">
              <a:ext uri="{FF2B5EF4-FFF2-40B4-BE49-F238E27FC236}">
                <a16:creationId xmlns:a16="http://schemas.microsoft.com/office/drawing/2014/main" id="{0FDD2257-C194-4462-8681-A6E66905B890}"/>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Each source answers a different question. The tables describe the supplied extracts.</a:t>
            </a:r>
          </a:p>
        </p:txBody>
      </p:sp>
      <p:sp>
        <p:nvSpPr>
          <p:cNvPr id="3" name="">
            <a:extLst xmlns:a="http://schemas.openxmlformats.org/drawingml/2006/main">
              <a:ext uri="{FF2B5EF4-FFF2-40B4-BE49-F238E27FC236}">
                <a16:creationId xmlns:a16="http://schemas.microsoft.com/office/drawing/2014/main" id="{1513436F-8F7D-49DE-B7CE-A60FE65171E3}"/>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03</a:t>
            </a:r>
          </a:p>
        </p:txBody>
      </p:sp>
      <p:graphicFrame>
        <p:nvGraphicFramePr>
          <p:cNvPr id="9" name=""/>
          <p:cNvGraphicFramePr/>
          <p:nvPr/>
        </p:nvGraphicFramePr>
        <p:xfrm>
          <a:off xmlns:a="http://schemas.openxmlformats.org/drawingml/2006/main" x="609600" y="1733550"/>
          <a:ext xmlns:a="http://schemas.openxmlformats.org/drawingml/2006/main" cx="10972800" cy="3333750"/>
        </p:xfrm>
        <a:graphic xmlns:a="http://schemas.openxmlformats.org/drawingml/2006/main">
          <a:graphicData uri="http://schemas.openxmlformats.org/drawingml/2006/table">
            <a:tbl>
              <a:tblPr/>
              <a:tblGrid>
                <a:gridCol w="2571750"/>
                <a:gridCol w="3905250"/>
                <a:gridCol w="4495800"/>
              </a:tblGrid>
              <a:tr h="833438">
                <a:tc>
                  <a:txBody>
                    <a:bodyPr>
                      <a:noAutofit/>
                    </a:bodyPr>
                    <a:lstStyle/>
                    <a:p>
                      <a:r>
                        <a:rPr sz="1800" b="1">
                          <a:solidFill>
                            <a:srgbClr val="FFFFFF"/>
                          </a:solidFill>
                          <a:latin typeface="Arial"/>
                          <a:ea typeface="Arial"/>
                          <a:cs typeface="Arial"/>
                        </a:rPr>
                        <a:t>Task</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Data available</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Preparation</a:t>
                      </a:r>
                    </a:p>
                  </a:txBody>
                  <a:tcPr marL="133350" marR="133350" marT="114300" marB="95250" anchor="ctr">
                    <a:solidFill>
                      <a:srgbClr val="4F008C"/>
                    </a:solidFill>
                  </a:tcPr>
                </a:tc>
              </a:tr>
              <a:tr h="833438">
                <a:tc>
                  <a:txBody>
                    <a:bodyPr>
                      <a:noAutofit/>
                    </a:bodyPr>
                    <a:lstStyle/>
                    <a:p>
                      <a:r>
                        <a:rPr sz="1800" b="0">
                          <a:solidFill>
                            <a:srgbClr val="24123B"/>
                          </a:solidFill>
                          <a:latin typeface="Arial"/>
                          <a:ea typeface="Arial"/>
                          <a:cs typeface="Arial"/>
                        </a:rPr>
                        <a:t>1. Viewer behavior</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1,048,575 events</a:t>
                      </a:r>
                    </a:p>
                    <a:p>
                      <a:r>
                        <a:rPr sz="1800" b="0">
                          <a:solidFill>
                            <a:srgbClr val="24123B"/>
                          </a:solidFill>
                          <a:latin typeface="Arial"/>
                          <a:ea typeface="Arial"/>
                          <a:cs typeface="Arial"/>
                        </a:rPr>
                        <a:t>11,578 distinct viewers</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Filled missing descriptions</a:t>
                      </a:r>
                    </a:p>
                    <a:p>
                      <a:r>
                        <a:rPr sz="1800" b="0">
                          <a:solidFill>
                            <a:srgbClr val="24123B"/>
                          </a:solidFill>
                          <a:latin typeface="Arial"/>
                          <a:ea typeface="Arial"/>
                          <a:cs typeface="Arial"/>
                        </a:rPr>
                        <a:t>Retained ambiguous repeated events</a:t>
                      </a:r>
                    </a:p>
                  </a:txBody>
                  <a:tcPr marL="133350" marR="133350" marT="114300" marB="95250" anchor="ctr">
                    <a:solidFill>
                      <a:srgbClr val="FFFFFF"/>
                    </a:solidFill>
                  </a:tcPr>
                </a:tc>
              </a:tr>
              <a:tr h="833438">
                <a:tc>
                  <a:txBody>
                    <a:bodyPr>
                      <a:noAutofit/>
                    </a:bodyPr>
                    <a:lstStyle/>
                    <a:p>
                      <a:r>
                        <a:rPr sz="1800" b="0">
                          <a:solidFill>
                            <a:srgbClr val="24123B"/>
                          </a:solidFill>
                          <a:latin typeface="Arial"/>
                          <a:ea typeface="Arial"/>
                          <a:cs typeface="Arial"/>
                        </a:rPr>
                        <a:t>2. Watch-time forecast</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86 business days</a:t>
                      </a:r>
                    </a:p>
                    <a:p>
                      <a:r>
                        <a:rPr sz="1800" b="0">
                          <a:solidFill>
                            <a:srgbClr val="24123B"/>
                          </a:solidFill>
                          <a:latin typeface="Arial"/>
                          <a:ea typeface="Arial"/>
                          <a:cs typeface="Arial"/>
                        </a:rPr>
                        <a:t>January to April 2018</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Checked dates and missing values</a:t>
                      </a:r>
                    </a:p>
                    <a:p>
                      <a:r>
                        <a:rPr sz="1800" b="0">
                          <a:solidFill>
                            <a:srgbClr val="24123B"/>
                          </a:solidFill>
                          <a:latin typeface="Arial"/>
                          <a:ea typeface="Arial"/>
                          <a:cs typeface="Arial"/>
                        </a:rPr>
                        <a:t>Kept the source weekday schedule</a:t>
                      </a:r>
                    </a:p>
                  </a:txBody>
                  <a:tcPr marL="133350" marR="133350" marT="114300" marB="95250" anchor="ctr">
                    <a:solidFill>
                      <a:srgbClr val="F6F2F9"/>
                    </a:solidFill>
                  </a:tcPr>
                </a:tc>
              </a:tr>
              <a:tr h="833438">
                <a:tc>
                  <a:txBody>
                    <a:bodyPr>
                      <a:noAutofit/>
                    </a:bodyPr>
                    <a:lstStyle/>
                    <a:p>
                      <a:r>
                        <a:rPr sz="1800" b="0">
                          <a:solidFill>
                            <a:srgbClr val="24123B"/>
                          </a:solidFill>
                          <a:latin typeface="Arial"/>
                          <a:ea typeface="Arial"/>
                          <a:cs typeface="Arial"/>
                        </a:rPr>
                        <a:t>3. Recommendations</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11,578 users and 8,013 titles</a:t>
                      </a:r>
                    </a:p>
                    <a:p>
                      <a:r>
                        <a:rPr sz="1800" b="0">
                          <a:solidFill>
                            <a:srgbClr val="24123B"/>
                          </a:solidFill>
                          <a:latin typeface="Arial"/>
                          <a:ea typeface="Arial"/>
                          <a:cs typeface="Arial"/>
                        </a:rPr>
                        <a:t>440,237 viewing relationships</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Collapsed repeat user-title views</a:t>
                      </a:r>
                    </a:p>
                    <a:p>
                      <a:r>
                        <a:rPr sz="1800" b="0">
                          <a:solidFill>
                            <a:srgbClr val="24123B"/>
                          </a:solidFill>
                          <a:latin typeface="Arial"/>
                          <a:ea typeface="Arial"/>
                          <a:cs typeface="Arial"/>
                        </a:rPr>
                        <a:t>Used viewing history as a signal</a:t>
                      </a:r>
                    </a:p>
                  </a:txBody>
                  <a:tcPr marL="133350" marR="133350" marT="11430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9AB2DBD-BE22-4673-BEED-E8EEC7B322E6}"/>
              </a:ext>
            </a:extLst>
          </p:cNvPr>
          <p:cNvSpPr>
            <a:spLocks xmlns:a="http://schemas.openxmlformats.org/drawingml/2006/main" noGrp="1"/>
          </p:cNvSpPr>
          <p:nvPr/>
        </p:nvSpPr>
        <p:spPr>
          <a:xfrm xmlns:a="http://schemas.openxmlformats.org/drawingml/2006/main">
            <a:off x="609600" y="5381625"/>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55C70"/>
                </a:solidFill>
                <a:latin typeface="Arial"/>
                <a:ea typeface="Arial"/>
                <a:cs typeface="Arial"/>
              </a:defRPr>
            </a:pPr>
            <a:r>
              <a:rPr sz="1875" b="0">
                <a:solidFill>
                  <a:srgbClr val="655C70"/>
                </a:solidFill>
                <a:latin typeface="Arial"/>
                <a:ea typeface="Arial"/>
                <a:cs typeface="Arial"/>
              </a:rPr>
              <a:t>The forecast source contains watch hours. It has no view-count column, weekend observations or hourly activity.</a:t>
            </a:r>
          </a:p>
        </p:txBody>
      </p:sp>
    </p:spTree>
    <p:extLst>
      <p:ext uri="{BB962C8B-B14F-4D97-AF65-F5344CB8AC3E}">
        <p14:creationId xmlns:p14="http://schemas.microsoft.com/office/powerpoint/2010/main" val="18331626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517F7B-A364-4B6C-8D4E-AC57F576A185}"/>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Series account for most watch time</a:t>
            </a:r>
          </a:p>
        </p:txBody>
      </p:sp>
      <p:sp>
        <p:nvSpPr>
          <p:cNvPr id="2" name="">
            <a:extLst xmlns:a="http://schemas.openxmlformats.org/drawingml/2006/main">
              <a:ext uri="{FF2B5EF4-FFF2-40B4-BE49-F238E27FC236}">
                <a16:creationId xmlns:a16="http://schemas.microsoft.com/office/drawing/2014/main" id="{875E0AB4-A9E3-4D7A-B6EC-4EBA97818D9F}"/>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1. Shares use all 1,048,575 recorded viewing events.</a:t>
            </a:r>
          </a:p>
        </p:txBody>
      </p:sp>
      <p:sp>
        <p:nvSpPr>
          <p:cNvPr id="3" name="">
            <a:extLst xmlns:a="http://schemas.openxmlformats.org/drawingml/2006/main">
              <a:ext uri="{FF2B5EF4-FFF2-40B4-BE49-F238E27FC236}">
                <a16:creationId xmlns:a16="http://schemas.microsoft.com/office/drawing/2014/main" id="{EC5E61F3-2DB5-4AF5-9B44-F856F7CA8097}"/>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04</a:t>
            </a:r>
          </a:p>
        </p:txBody>
      </p:sp>
      <p:graphicFrame>
        <p:nvGraphicFramePr>
          <p:cNvPr id="11" name="Chart"/>
          <p:cNvGraphicFramePr/>
          <p:nvPr/>
        </p:nvGraphicFramePr>
        <p:xfrm>
          <a:off xmlns:a="http://schemas.openxmlformats.org/drawingml/2006/main" x="609600" y="1695450"/>
          <a:ext xmlns:a="http://schemas.openxmlformats.org/drawingml/2006/main" cx="7048500" cy="4000500"/>
        </p:xfrm>
        <a:graphic xmlns:a="http://schemas.openxmlformats.org/drawingml/2006/main">
          <a:graphicData uri="http://schemas.openxmlformats.org/drawingml/2006/chart">
            <c:chart xmlns:r="http://schemas.openxmlformats.org/officeDocument/2006/relationships" xmlns:c="http://schemas.openxmlformats.org/drawingml/2006/chart" r:id="R308fff059bd54c21"/>
          </a:graphicData>
        </a:graphic>
      </p:graphicFrame>
      <p:sp>
        <p:nvSpPr>
          <p:cNvPr id="5" name="">
            <a:extLst xmlns:a="http://schemas.openxmlformats.org/drawingml/2006/main">
              <a:ext uri="{FF2B5EF4-FFF2-40B4-BE49-F238E27FC236}">
                <a16:creationId xmlns:a16="http://schemas.microsoft.com/office/drawing/2014/main" id="{49FA14EC-55AB-44FA-BDA2-2836F249F039}"/>
              </a:ext>
            </a:extLst>
          </p:cNvPr>
          <p:cNvSpPr>
            <a:spLocks xmlns:a="http://schemas.openxmlformats.org/drawingml/2006/main" noGrp="1"/>
          </p:cNvSpPr>
          <p:nvPr/>
        </p:nvSpPr>
        <p:spPr>
          <a:xfrm xmlns:a="http://schemas.openxmlformats.org/drawingml/2006/main">
            <a:off x="8143875" y="1962150"/>
            <a:ext cx="3429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4F008C"/>
                </a:solidFill>
                <a:latin typeface="Arial"/>
                <a:ea typeface="Arial"/>
                <a:cs typeface="Arial"/>
              </a:defRPr>
            </a:pPr>
            <a:r>
              <a:rPr sz="2700" b="1">
                <a:solidFill>
                  <a:srgbClr val="4F008C"/>
                </a:solidFill>
                <a:latin typeface="Arial"/>
                <a:ea typeface="Arial"/>
                <a:cs typeface="Arial"/>
              </a:rPr>
              <a:t>53.4% of events</a:t>
            </a:r>
          </a:p>
          <a:p xmlns:a="http://schemas.openxmlformats.org/drawingml/2006/main">
            <a:pPr>
              <a:defRPr sz="2700" b="1">
                <a:solidFill>
                  <a:srgbClr val="4F008C"/>
                </a:solidFill>
                <a:latin typeface="Arial"/>
                <a:ea typeface="Arial"/>
                <a:cs typeface="Arial"/>
              </a:defRPr>
            </a:pPr>
            <a:r>
              <a:rPr sz="2700" b="1">
                <a:solidFill>
                  <a:srgbClr val="4F008C"/>
                </a:solidFill>
                <a:latin typeface="Arial"/>
                <a:ea typeface="Arial"/>
                <a:cs typeface="Arial"/>
              </a:rPr>
              <a:t>71.1% of watch hours</a:t>
            </a:r>
          </a:p>
        </p:txBody>
      </p:sp>
      <p:sp>
        <p:nvSpPr>
          <p:cNvPr id="6" name="">
            <a:extLst xmlns:a="http://schemas.openxmlformats.org/drawingml/2006/main">
              <a:ext uri="{FF2B5EF4-FFF2-40B4-BE49-F238E27FC236}">
                <a16:creationId xmlns:a16="http://schemas.microsoft.com/office/drawing/2014/main" id="{2F05D7BE-9A6E-49B1-9795-91FBB4618A66}"/>
              </a:ext>
            </a:extLst>
          </p:cNvPr>
          <p:cNvSpPr>
            <a:spLocks xmlns:a="http://schemas.openxmlformats.org/drawingml/2006/main" noGrp="1"/>
          </p:cNvSpPr>
          <p:nvPr/>
        </p:nvSpPr>
        <p:spPr>
          <a:xfrm xmlns:a="http://schemas.openxmlformats.org/drawingml/2006/main">
            <a:off x="8143875" y="3476625"/>
            <a:ext cx="3381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4123B"/>
                </a:solidFill>
                <a:latin typeface="Arial"/>
                <a:ea typeface="Arial"/>
                <a:cs typeface="Arial"/>
              </a:defRPr>
            </a:pPr>
            <a:r>
              <a:rPr sz="2025" b="0">
                <a:solidFill>
                  <a:srgbClr val="24123B"/>
                </a:solidFill>
                <a:latin typeface="Arial"/>
                <a:ea typeface="Arial"/>
                <a:cs typeface="Arial"/>
              </a:rPr>
              <a:t>Series deserve attention in content planning and playback quality reviews.</a:t>
            </a:r>
          </a:p>
        </p:txBody>
      </p:sp>
      <p:sp>
        <p:nvSpPr>
          <p:cNvPr id="7" name="">
            <a:extLst xmlns:a="http://schemas.openxmlformats.org/drawingml/2006/main">
              <a:ext uri="{FF2B5EF4-FFF2-40B4-BE49-F238E27FC236}">
                <a16:creationId xmlns:a16="http://schemas.microsoft.com/office/drawing/2014/main" id="{477C517B-CF53-431A-A969-0F6E450B9E16}"/>
              </a:ext>
            </a:extLst>
          </p:cNvPr>
          <p:cNvSpPr>
            <a:spLocks xmlns:a="http://schemas.openxmlformats.org/drawingml/2006/main" noGrp="1"/>
          </p:cNvSpPr>
          <p:nvPr/>
        </p:nvSpPr>
        <p:spPr>
          <a:xfrm xmlns:a="http://schemas.openxmlformats.org/drawingml/2006/main">
            <a:off x="8143875" y="5000625"/>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55C70"/>
                </a:solidFill>
                <a:latin typeface="Arial"/>
                <a:ea typeface="Arial"/>
                <a:cs typeface="Arial"/>
              </a:defRPr>
            </a:pPr>
            <a:r>
              <a:rPr sz="1650" b="0">
                <a:solidFill>
                  <a:srgbClr val="655C70"/>
                </a:solidFill>
                <a:latin typeface="Arial"/>
                <a:ea typeface="Arial"/>
                <a:cs typeface="Arial"/>
              </a:rPr>
              <a:t>Long viewing records skew average duration. Check event logging before using duration as a satisfaction metric.</a:t>
            </a:r>
          </a:p>
        </p:txBody>
      </p:sp>
    </p:spTree>
    <p:extLst>
      <p:ext uri="{BB962C8B-B14F-4D97-AF65-F5344CB8AC3E}">
        <p14:creationId xmlns:p14="http://schemas.microsoft.com/office/powerpoint/2010/main" val="7757345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B8E943-3DF5-403F-8374-E366076E44DA}"/>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Series viewing is predominantly SD</a:t>
            </a:r>
          </a:p>
        </p:txBody>
      </p:sp>
      <p:sp>
        <p:nvSpPr>
          <p:cNvPr id="2" name="">
            <a:extLst xmlns:a="http://schemas.openxmlformats.org/drawingml/2006/main">
              <a:ext uri="{FF2B5EF4-FFF2-40B4-BE49-F238E27FC236}">
                <a16:creationId xmlns:a16="http://schemas.microsoft.com/office/drawing/2014/main" id="{0FF6861D-99ED-435C-AFD5-73E11A16A469}"/>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1. Percentages are within each program class and refer to events, not unique users.</a:t>
            </a:r>
          </a:p>
        </p:txBody>
      </p:sp>
      <p:sp>
        <p:nvSpPr>
          <p:cNvPr id="3" name="">
            <a:extLst xmlns:a="http://schemas.openxmlformats.org/drawingml/2006/main">
              <a:ext uri="{FF2B5EF4-FFF2-40B4-BE49-F238E27FC236}">
                <a16:creationId xmlns:a16="http://schemas.microsoft.com/office/drawing/2014/main" id="{DCFB1E92-AC65-4704-9D16-0D6D204A6FDC}"/>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05</a:t>
            </a:r>
          </a:p>
        </p:txBody>
      </p:sp>
      <p:graphicFrame>
        <p:nvGraphicFramePr>
          <p:cNvPr id="11" name="Chart"/>
          <p:cNvGraphicFramePr/>
          <p:nvPr/>
        </p:nvGraphicFramePr>
        <p:xfrm>
          <a:off xmlns:a="http://schemas.openxmlformats.org/drawingml/2006/main" x="609600" y="1695450"/>
          <a:ext xmlns:a="http://schemas.openxmlformats.org/drawingml/2006/main" cx="7048500" cy="4000500"/>
        </p:xfrm>
        <a:graphic xmlns:a="http://schemas.openxmlformats.org/drawingml/2006/main">
          <a:graphicData uri="http://schemas.openxmlformats.org/drawingml/2006/chart">
            <c:chart xmlns:r="http://schemas.openxmlformats.org/officeDocument/2006/relationships" xmlns:c="http://schemas.openxmlformats.org/drawingml/2006/chart" r:id="R0c2376f225c34344"/>
          </a:graphicData>
        </a:graphic>
      </p:graphicFrame>
      <p:sp>
        <p:nvSpPr>
          <p:cNvPr id="5" name="">
            <a:extLst xmlns:a="http://schemas.openxmlformats.org/drawingml/2006/main">
              <a:ext uri="{FF2B5EF4-FFF2-40B4-BE49-F238E27FC236}">
                <a16:creationId xmlns:a16="http://schemas.microsoft.com/office/drawing/2014/main" id="{4107B5AA-9DDF-4021-B73E-DA6E86733BA8}"/>
              </a:ext>
            </a:extLst>
          </p:cNvPr>
          <p:cNvSpPr>
            <a:spLocks xmlns:a="http://schemas.openxmlformats.org/drawingml/2006/main" noGrp="1"/>
          </p:cNvSpPr>
          <p:nvPr/>
        </p:nvSpPr>
        <p:spPr>
          <a:xfrm xmlns:a="http://schemas.openxmlformats.org/drawingml/2006/main">
            <a:off x="8143875" y="1943100"/>
            <a:ext cx="3381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86.9% SD</a:t>
            </a:r>
          </a:p>
        </p:txBody>
      </p:sp>
      <p:sp>
        <p:nvSpPr>
          <p:cNvPr id="6" name="">
            <a:extLst xmlns:a="http://schemas.openxmlformats.org/drawingml/2006/main">
              <a:ext uri="{FF2B5EF4-FFF2-40B4-BE49-F238E27FC236}">
                <a16:creationId xmlns:a16="http://schemas.microsoft.com/office/drawing/2014/main" id="{87B888C4-ABD5-4BA2-8274-9AC7482109AD}"/>
              </a:ext>
            </a:extLst>
          </p:cNvPr>
          <p:cNvSpPr>
            <a:spLocks xmlns:a="http://schemas.openxmlformats.org/drawingml/2006/main" noGrp="1"/>
          </p:cNvSpPr>
          <p:nvPr/>
        </p:nvSpPr>
        <p:spPr>
          <a:xfrm xmlns:a="http://schemas.openxmlformats.org/drawingml/2006/main">
            <a:off x="8143875" y="2838450"/>
            <a:ext cx="338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24123B"/>
                </a:solidFill>
                <a:latin typeface="Arial"/>
                <a:ea typeface="Arial"/>
                <a:cs typeface="Arial"/>
              </a:defRPr>
            </a:pPr>
            <a:r>
              <a:rPr sz="2250" b="1">
                <a:solidFill>
                  <a:srgbClr val="24123B"/>
                </a:solidFill>
                <a:latin typeface="Arial"/>
                <a:ea typeface="Arial"/>
                <a:cs typeface="Arial"/>
              </a:rPr>
              <a:t>The series quality gap needs investigation.</a:t>
            </a:r>
          </a:p>
        </p:txBody>
      </p:sp>
      <p:sp>
        <p:nvSpPr>
          <p:cNvPr id="7" name="">
            <a:extLst xmlns:a="http://schemas.openxmlformats.org/drawingml/2006/main">
              <a:ext uri="{FF2B5EF4-FFF2-40B4-BE49-F238E27FC236}">
                <a16:creationId xmlns:a16="http://schemas.microsoft.com/office/drawing/2014/main" id="{AC130619-9AD7-4388-A9D7-C4187B5C6856}"/>
              </a:ext>
            </a:extLst>
          </p:cNvPr>
          <p:cNvSpPr>
            <a:spLocks xmlns:a="http://schemas.openxmlformats.org/drawingml/2006/main" noGrp="1"/>
          </p:cNvSpPr>
          <p:nvPr/>
        </p:nvSpPr>
        <p:spPr>
          <a:xfrm xmlns:a="http://schemas.openxmlformats.org/drawingml/2006/main">
            <a:off x="8143875" y="4067175"/>
            <a:ext cx="3381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55C70"/>
                </a:solidFill>
                <a:latin typeface="Arial"/>
                <a:ea typeface="Arial"/>
                <a:cs typeface="Arial"/>
              </a:defRPr>
            </a:pPr>
            <a:r>
              <a:rPr sz="2025" b="0">
                <a:solidFill>
                  <a:srgbClr val="655C70"/>
                </a:solidFill>
                <a:latin typeface="Arial"/>
                <a:ea typeface="Arial"/>
                <a:cs typeface="Arial"/>
              </a:rPr>
              <a:t>Compare HD availability, device type and connection conditions before choosing a fix.</a:t>
            </a:r>
          </a:p>
        </p:txBody>
      </p:sp>
    </p:spTree>
    <p:extLst>
      <p:ext uri="{BB962C8B-B14F-4D97-AF65-F5344CB8AC3E}">
        <p14:creationId xmlns:p14="http://schemas.microsoft.com/office/powerpoint/2010/main" val="5892804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B27FC2-0483-4DDB-B9FD-558B3565B087}"/>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Viewer segments need different experiences</a:t>
            </a:r>
          </a:p>
        </p:txBody>
      </p:sp>
      <p:sp>
        <p:nvSpPr>
          <p:cNvPr id="2" name="">
            <a:extLst xmlns:a="http://schemas.openxmlformats.org/drawingml/2006/main">
              <a:ext uri="{FF2B5EF4-FFF2-40B4-BE49-F238E27FC236}">
                <a16:creationId xmlns:a16="http://schemas.microsoft.com/office/drawing/2014/main" id="{951E2DA9-C6E1-4770-96C6-8197685D1ECA}"/>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1. These mutually exclusive segments sum to 11,578 viewers.</a:t>
            </a:r>
          </a:p>
        </p:txBody>
      </p:sp>
      <p:sp>
        <p:nvSpPr>
          <p:cNvPr id="3" name="">
            <a:extLst xmlns:a="http://schemas.openxmlformats.org/drawingml/2006/main">
              <a:ext uri="{FF2B5EF4-FFF2-40B4-BE49-F238E27FC236}">
                <a16:creationId xmlns:a16="http://schemas.microsoft.com/office/drawing/2014/main" id="{D23D4196-2134-4ED4-BF93-E3F139C4ACFA}"/>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06</a:t>
            </a:r>
          </a:p>
        </p:txBody>
      </p:sp>
      <p:graphicFrame>
        <p:nvGraphicFramePr>
          <p:cNvPr id="9" name=""/>
          <p:cNvGraphicFramePr/>
          <p:nvPr/>
        </p:nvGraphicFramePr>
        <p:xfrm>
          <a:off xmlns:a="http://schemas.openxmlformats.org/drawingml/2006/main" x="609600" y="1733550"/>
          <a:ext xmlns:a="http://schemas.openxmlformats.org/drawingml/2006/main" cx="10972800" cy="3333750"/>
        </p:xfrm>
        <a:graphic xmlns:a="http://schemas.openxmlformats.org/drawingml/2006/main">
          <a:graphicData uri="http://schemas.openxmlformats.org/drawingml/2006/table">
            <a:tbl>
              <a:tblPr/>
              <a:tblGrid>
                <a:gridCol w="2381250"/>
                <a:gridCol w="1428750"/>
                <a:gridCol w="2524125"/>
                <a:gridCol w="4638675"/>
              </a:tblGrid>
              <a:tr h="833438">
                <a:tc>
                  <a:txBody>
                    <a:bodyPr>
                      <a:noAutofit/>
                    </a:bodyPr>
                    <a:lstStyle/>
                    <a:p>
                      <a:r>
                        <a:rPr sz="1800" b="1">
                          <a:solidFill>
                            <a:srgbClr val="FFFFFF"/>
                          </a:solidFill>
                          <a:latin typeface="Arial"/>
                          <a:ea typeface="Arial"/>
                          <a:cs typeface="Arial"/>
                        </a:rPr>
                        <a:t>Viewer segment</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Viewers</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Usual quality</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Possible product response</a:t>
                      </a:r>
                    </a:p>
                  </a:txBody>
                  <a:tcPr marL="133350" marR="133350" marT="114300" marB="95250" anchor="ctr">
                    <a:solidFill>
                      <a:srgbClr val="4F008C"/>
                    </a:solidFill>
                  </a:tcPr>
                </a:tc>
              </a:tr>
              <a:tr h="833438">
                <a:tc>
                  <a:txBody>
                    <a:bodyPr>
                      <a:noAutofit/>
                    </a:bodyPr>
                    <a:lstStyle/>
                    <a:p>
                      <a:r>
                        <a:rPr sz="1800" b="0">
                          <a:solidFill>
                            <a:srgbClr val="24123B"/>
                          </a:solidFill>
                          <a:latin typeface="Arial"/>
                          <a:ea typeface="Arial"/>
                          <a:cs typeface="Arial"/>
                        </a:rPr>
                        <a:t>Movies only</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7,677</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84.4% mostly HD</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Highlight movie discovery</a:t>
                      </a:r>
                    </a:p>
                    <a:p>
                      <a:r>
                        <a:rPr sz="1800" b="0">
                          <a:solidFill>
                            <a:srgbClr val="24123B"/>
                          </a:solidFill>
                          <a:latin typeface="Arial"/>
                          <a:ea typeface="Arial"/>
                          <a:cs typeface="Arial"/>
                        </a:rPr>
                        <a:t>and preserve reliable HD playback</a:t>
                      </a:r>
                    </a:p>
                  </a:txBody>
                  <a:tcPr marL="133350" marR="133350" marT="114300" marB="95250" anchor="ctr">
                    <a:solidFill>
                      <a:srgbClr val="FFFFFF"/>
                    </a:solidFill>
                  </a:tcPr>
                </a:tc>
              </a:tr>
              <a:tr h="833438">
                <a:tc>
                  <a:txBody>
                    <a:bodyPr>
                      <a:noAutofit/>
                    </a:bodyPr>
                    <a:lstStyle/>
                    <a:p>
                      <a:r>
                        <a:rPr sz="1800" b="0">
                          <a:solidFill>
                            <a:srgbClr val="24123B"/>
                          </a:solidFill>
                          <a:latin typeface="Arial"/>
                          <a:ea typeface="Arial"/>
                          <a:cs typeface="Arial"/>
                        </a:rPr>
                        <a:t>Movies and series</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3,678</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55.9% mostly SD</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Offer recommendations across both</a:t>
                      </a:r>
                    </a:p>
                    <a:p>
                      <a:r>
                        <a:rPr sz="1800" b="0">
                          <a:solidFill>
                            <a:srgbClr val="24123B"/>
                          </a:solidFill>
                          <a:latin typeface="Arial"/>
                          <a:ea typeface="Arial"/>
                          <a:cs typeface="Arial"/>
                        </a:rPr>
                        <a:t>classes and inspect SD constraints</a:t>
                      </a:r>
                    </a:p>
                  </a:txBody>
                  <a:tcPr marL="133350" marR="133350" marT="114300" marB="95250" anchor="ctr">
                    <a:solidFill>
                      <a:srgbClr val="F6F2F9"/>
                    </a:solidFill>
                  </a:tcPr>
                </a:tc>
              </a:tr>
              <a:tr h="833438">
                <a:tc>
                  <a:txBody>
                    <a:bodyPr>
                      <a:noAutofit/>
                    </a:bodyPr>
                    <a:lstStyle/>
                    <a:p>
                      <a:r>
                        <a:rPr sz="1800" b="0">
                          <a:solidFill>
                            <a:srgbClr val="24123B"/>
                          </a:solidFill>
                          <a:latin typeface="Arial"/>
                          <a:ea typeface="Arial"/>
                          <a:cs typeface="Arial"/>
                        </a:rPr>
                        <a:t>Series only</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223</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73.1% mostly SD</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Make episode continuation easy</a:t>
                      </a:r>
                    </a:p>
                    <a:p>
                      <a:r>
                        <a:rPr sz="1800" b="0">
                          <a:solidFill>
                            <a:srgbClr val="24123B"/>
                          </a:solidFill>
                          <a:latin typeface="Arial"/>
                          <a:ea typeface="Arial"/>
                          <a:cs typeface="Arial"/>
                        </a:rPr>
                        <a:t>and review series HD availability</a:t>
                      </a:r>
                    </a:p>
                  </a:txBody>
                  <a:tcPr marL="133350" marR="133350" marT="11430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C3673D2-C390-40F3-8119-F49501244306}"/>
              </a:ext>
            </a:extLst>
          </p:cNvPr>
          <p:cNvSpPr>
            <a:spLocks xmlns:a="http://schemas.openxmlformats.org/drawingml/2006/main" noGrp="1"/>
          </p:cNvSpPr>
          <p:nvPr/>
        </p:nvSpPr>
        <p:spPr>
          <a:xfrm xmlns:a="http://schemas.openxmlformats.org/drawingml/2006/main">
            <a:off x="609600" y="542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55C70"/>
                </a:solidFill>
                <a:latin typeface="Arial"/>
                <a:ea typeface="Arial"/>
                <a:cs typeface="Arial"/>
              </a:defRPr>
            </a:pPr>
            <a:r>
              <a:rPr sz="2025" b="0">
                <a:solidFill>
                  <a:srgbClr val="655C70"/>
                </a:solidFill>
                <a:latin typeface="Arial"/>
                <a:ea typeface="Arial"/>
                <a:cs typeface="Arial"/>
              </a:rPr>
              <a:t>Viewing quality reflects recorded behavior. It does not prove that viewers prefer SD.</a:t>
            </a:r>
          </a:p>
        </p:txBody>
      </p:sp>
    </p:spTree>
    <p:extLst>
      <p:ext uri="{BB962C8B-B14F-4D97-AF65-F5344CB8AC3E}">
        <p14:creationId xmlns:p14="http://schemas.microsoft.com/office/powerpoint/2010/main" val="6224277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38FAD6-CFEB-4484-B948-315271112444}"/>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Daily watch hours decline in the historical data</a:t>
            </a:r>
          </a:p>
        </p:txBody>
      </p:sp>
      <p:sp>
        <p:nvSpPr>
          <p:cNvPr id="2" name="">
            <a:extLst xmlns:a="http://schemas.openxmlformats.org/drawingml/2006/main">
              <a:ext uri="{FF2B5EF4-FFF2-40B4-BE49-F238E27FC236}">
                <a16:creationId xmlns:a16="http://schemas.microsoft.com/office/drawing/2014/main" id="{16E71FA3-E893-45A1-BEE7-ACA06ADEA3E3}"/>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2. Monthly means cover Monday to Friday only. May and June are model estimates.</a:t>
            </a:r>
          </a:p>
        </p:txBody>
      </p:sp>
      <p:sp>
        <p:nvSpPr>
          <p:cNvPr id="3" name="">
            <a:extLst xmlns:a="http://schemas.openxmlformats.org/drawingml/2006/main">
              <a:ext uri="{FF2B5EF4-FFF2-40B4-BE49-F238E27FC236}">
                <a16:creationId xmlns:a16="http://schemas.microsoft.com/office/drawing/2014/main" id="{DA1718F4-4FBC-485F-B307-F6326F14FE10}"/>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07</a:t>
            </a:r>
          </a:p>
        </p:txBody>
      </p:sp>
      <p:graphicFrame>
        <p:nvGraphicFramePr>
          <p:cNvPr id="11" name="Chart"/>
          <p:cNvGraphicFramePr/>
          <p:nvPr/>
        </p:nvGraphicFramePr>
        <p:xfrm>
          <a:off xmlns:a="http://schemas.openxmlformats.org/drawingml/2006/main" x="609600" y="1857375"/>
          <a:ext xmlns:a="http://schemas.openxmlformats.org/drawingml/2006/main" cx="10810875" cy="3190875"/>
        </p:xfrm>
        <a:graphic xmlns:a="http://schemas.openxmlformats.org/drawingml/2006/main">
          <a:graphicData uri="http://schemas.openxmlformats.org/drawingml/2006/chart">
            <c:chart xmlns:r="http://schemas.openxmlformats.org/officeDocument/2006/relationships" xmlns:c="http://schemas.openxmlformats.org/drawingml/2006/chart" r:id="R73cbb10bcb114fa6"/>
          </a:graphicData>
        </a:graphic>
      </p:graphicFrame>
      <p:sp>
        <p:nvSpPr>
          <p:cNvPr id="5" name="">
            <a:extLst xmlns:a="http://schemas.openxmlformats.org/drawingml/2006/main">
              <a:ext uri="{FF2B5EF4-FFF2-40B4-BE49-F238E27FC236}">
                <a16:creationId xmlns:a16="http://schemas.microsoft.com/office/drawing/2014/main" id="{E2155278-D947-4035-8CF3-FFECA3B8CC45}"/>
              </a:ext>
            </a:extLst>
          </p:cNvPr>
          <p:cNvSpPr>
            <a:spLocks xmlns:a="http://schemas.openxmlformats.org/drawingml/2006/main" noGrp="1"/>
          </p:cNvSpPr>
          <p:nvPr/>
        </p:nvSpPr>
        <p:spPr>
          <a:xfrm xmlns:a="http://schemas.openxmlformats.org/drawingml/2006/main">
            <a:off x="609600" y="52768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4F008C"/>
                </a:solidFill>
                <a:latin typeface="Arial"/>
                <a:ea typeface="Arial"/>
                <a:cs typeface="Arial"/>
              </a:defRPr>
            </a:pPr>
            <a:r>
              <a:rPr sz="1875" b="1">
                <a:solidFill>
                  <a:srgbClr val="4F008C"/>
                </a:solidFill>
                <a:latin typeface="Arial"/>
                <a:ea typeface="Arial"/>
                <a:cs typeface="Arial"/>
              </a:rPr>
              <a:t>Observed: January to April</a:t>
            </a:r>
          </a:p>
        </p:txBody>
      </p:sp>
      <p:sp>
        <p:nvSpPr>
          <p:cNvPr id="6" name="">
            <a:extLst xmlns:a="http://schemas.openxmlformats.org/drawingml/2006/main">
              <a:ext uri="{FF2B5EF4-FFF2-40B4-BE49-F238E27FC236}">
                <a16:creationId xmlns:a16="http://schemas.microsoft.com/office/drawing/2014/main" id="{CDDEEDE6-29AA-4570-A9D5-00ACE9878E28}"/>
              </a:ext>
            </a:extLst>
          </p:cNvPr>
          <p:cNvSpPr>
            <a:spLocks xmlns:a="http://schemas.openxmlformats.org/drawingml/2006/main" noGrp="1"/>
          </p:cNvSpPr>
          <p:nvPr/>
        </p:nvSpPr>
        <p:spPr>
          <a:xfrm xmlns:a="http://schemas.openxmlformats.org/drawingml/2006/main">
            <a:off x="6667500" y="52768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EA5360"/>
                </a:solidFill>
                <a:latin typeface="Arial"/>
                <a:ea typeface="Arial"/>
                <a:cs typeface="Arial"/>
              </a:defRPr>
            </a:pPr>
            <a:r>
              <a:rPr sz="1875" b="1">
                <a:solidFill>
                  <a:srgbClr val="EA5360"/>
                </a:solidFill>
                <a:latin typeface="Arial"/>
                <a:ea typeface="Arial"/>
                <a:cs typeface="Arial"/>
              </a:rPr>
              <a:t>Forecast: May and June 2018</a:t>
            </a:r>
          </a:p>
        </p:txBody>
      </p:sp>
      <p:sp>
        <p:nvSpPr>
          <p:cNvPr id="7" name="">
            <a:extLst xmlns:a="http://schemas.openxmlformats.org/drawingml/2006/main">
              <a:ext uri="{FF2B5EF4-FFF2-40B4-BE49-F238E27FC236}">
                <a16:creationId xmlns:a16="http://schemas.microsoft.com/office/drawing/2014/main" id="{45F8645C-A993-4A02-8251-EB93969DE252}"/>
              </a:ext>
            </a:extLst>
          </p:cNvPr>
          <p:cNvSpPr>
            <a:spLocks xmlns:a="http://schemas.openxmlformats.org/drawingml/2006/main" noGrp="1"/>
          </p:cNvSpPr>
          <p:nvPr/>
        </p:nvSpPr>
        <p:spPr>
          <a:xfrm xmlns:a="http://schemas.openxmlformats.org/drawingml/2006/main">
            <a:off x="609600" y="57435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55C70"/>
                </a:solidFill>
                <a:latin typeface="Arial"/>
                <a:ea typeface="Arial"/>
                <a:cs typeface="Arial"/>
              </a:defRPr>
            </a:pPr>
            <a:r>
              <a:rPr sz="1875" b="0">
                <a:solidFill>
                  <a:srgbClr val="655C70"/>
                </a:solidFill>
                <a:latin typeface="Arial"/>
                <a:ea typeface="Arial"/>
                <a:cs typeface="Arial"/>
              </a:rPr>
              <a:t>The model extends the observed trend. The data do not explain why activity declined.</a:t>
            </a:r>
          </a:p>
        </p:txBody>
      </p:sp>
    </p:spTree>
    <p:extLst>
      <p:ext uri="{BB962C8B-B14F-4D97-AF65-F5344CB8AC3E}">
        <p14:creationId xmlns:p14="http://schemas.microsoft.com/office/powerpoint/2010/main" val="6620810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392B76-9A59-4EF3-8B4A-9C01BBB63403}"/>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Forecast estimates support capacity planning</a:t>
            </a:r>
          </a:p>
        </p:txBody>
      </p:sp>
      <p:sp>
        <p:nvSpPr>
          <p:cNvPr id="2" name="">
            <a:extLst xmlns:a="http://schemas.openxmlformats.org/drawingml/2006/main">
              <a:ext uri="{FF2B5EF4-FFF2-40B4-BE49-F238E27FC236}">
                <a16:creationId xmlns:a16="http://schemas.microsoft.com/office/drawing/2014/main" id="{43BEFCCA-3125-41FA-866C-13AE5451D2A0}"/>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2. Historical forecast for May and June 2018. No estimate of weekend or hourly peaks.</a:t>
            </a:r>
          </a:p>
        </p:txBody>
      </p:sp>
      <p:sp>
        <p:nvSpPr>
          <p:cNvPr id="3" name="">
            <a:extLst xmlns:a="http://schemas.openxmlformats.org/drawingml/2006/main">
              <a:ext uri="{FF2B5EF4-FFF2-40B4-BE49-F238E27FC236}">
                <a16:creationId xmlns:a16="http://schemas.microsoft.com/office/drawing/2014/main" id="{5259E370-A7BE-4C94-A504-1C26728726DF}"/>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08</a:t>
            </a:r>
          </a:p>
        </p:txBody>
      </p:sp>
      <p:graphicFrame>
        <p:nvGraphicFramePr>
          <p:cNvPr id="14" name=""/>
          <p:cNvGraphicFramePr/>
          <p:nvPr/>
        </p:nvGraphicFramePr>
        <p:xfrm>
          <a:off xmlns:a="http://schemas.openxmlformats.org/drawingml/2006/main" x="609600" y="1685925"/>
          <a:ext xmlns:a="http://schemas.openxmlformats.org/drawingml/2006/main" cx="10972800" cy="2028825"/>
        </p:xfrm>
        <a:graphic xmlns:a="http://schemas.openxmlformats.org/drawingml/2006/main">
          <a:graphicData uri="http://schemas.openxmlformats.org/drawingml/2006/table">
            <a:tbl>
              <a:tblPr/>
              <a:tblGrid>
                <a:gridCol w="3333750"/>
                <a:gridCol w="3143250"/>
                <a:gridCol w="4495800"/>
              </a:tblGrid>
              <a:tr h="676275">
                <a:tc>
                  <a:txBody>
                    <a:bodyPr>
                      <a:noAutofit/>
                    </a:bodyPr>
                    <a:lstStyle/>
                    <a:p>
                      <a:r>
                        <a:rPr sz="2100" b="1">
                          <a:solidFill>
                            <a:srgbClr val="FFFFFF"/>
                          </a:solidFill>
                          <a:latin typeface="Arial"/>
                          <a:ea typeface="Arial"/>
                          <a:cs typeface="Arial"/>
                        </a:rPr>
                        <a:t>Period</a:t>
                      </a:r>
                    </a:p>
                  </a:txBody>
                  <a:tcPr marL="133350" marR="133350" marT="114300" marB="95250" anchor="ctr">
                    <a:solidFill>
                      <a:srgbClr val="4F008C"/>
                    </a:solidFill>
                  </a:tcPr>
                </a:tc>
                <a:tc>
                  <a:txBody>
                    <a:bodyPr>
                      <a:noAutofit/>
                    </a:bodyPr>
                    <a:lstStyle/>
                    <a:p>
                      <a:r>
                        <a:rPr sz="2100" b="1">
                          <a:solidFill>
                            <a:srgbClr val="FFFFFF"/>
                          </a:solidFill>
                          <a:latin typeface="Arial"/>
                          <a:ea typeface="Arial"/>
                          <a:cs typeface="Arial"/>
                        </a:rPr>
                        <a:t>Business days</a:t>
                      </a:r>
                    </a:p>
                  </a:txBody>
                  <a:tcPr marL="133350" marR="133350" marT="114300" marB="95250" anchor="ctr">
                    <a:solidFill>
                      <a:srgbClr val="4F008C"/>
                    </a:solidFill>
                  </a:tcPr>
                </a:tc>
                <a:tc>
                  <a:txBody>
                    <a:bodyPr>
                      <a:noAutofit/>
                    </a:bodyPr>
                    <a:lstStyle/>
                    <a:p>
                      <a:r>
                        <a:rPr sz="2100" b="1">
                          <a:solidFill>
                            <a:srgbClr val="FFFFFF"/>
                          </a:solidFill>
                          <a:latin typeface="Arial"/>
                          <a:ea typeface="Arial"/>
                          <a:cs typeface="Arial"/>
                        </a:rPr>
                        <a:t>Estimated watch hours</a:t>
                      </a:r>
                    </a:p>
                  </a:txBody>
                  <a:tcPr marL="133350" marR="133350" marT="114300" marB="95250" anchor="ctr">
                    <a:solidFill>
                      <a:srgbClr val="4F008C"/>
                    </a:solidFill>
                  </a:tcPr>
                </a:tc>
              </a:tr>
              <a:tr h="676275">
                <a:tc>
                  <a:txBody>
                    <a:bodyPr>
                      <a:noAutofit/>
                    </a:bodyPr>
                    <a:lstStyle/>
                    <a:p>
                      <a:r>
                        <a:rPr sz="2100" b="0">
                          <a:solidFill>
                            <a:srgbClr val="24123B"/>
                          </a:solidFill>
                          <a:latin typeface="Arial"/>
                          <a:ea typeface="Arial"/>
                          <a:cs typeface="Arial"/>
                        </a:rPr>
                        <a:t>May 2018</a:t>
                      </a:r>
                    </a:p>
                  </a:txBody>
                  <a:tcPr marL="133350" marR="133350" marT="114300" marB="95250" anchor="ctr">
                    <a:solidFill>
                      <a:srgbClr val="FFFFFF"/>
                    </a:solidFill>
                  </a:tcPr>
                </a:tc>
                <a:tc>
                  <a:txBody>
                    <a:bodyPr>
                      <a:noAutofit/>
                    </a:bodyPr>
                    <a:lstStyle/>
                    <a:p>
                      <a:r>
                        <a:rPr sz="2100" b="0">
                          <a:solidFill>
                            <a:srgbClr val="24123B"/>
                          </a:solidFill>
                          <a:latin typeface="Arial"/>
                          <a:ea typeface="Arial"/>
                          <a:cs typeface="Arial"/>
                        </a:rPr>
                        <a:t>23</a:t>
                      </a:r>
                    </a:p>
                  </a:txBody>
                  <a:tcPr marL="133350" marR="133350" marT="114300" marB="95250" anchor="ctr">
                    <a:solidFill>
                      <a:srgbClr val="FFFFFF"/>
                    </a:solidFill>
                  </a:tcPr>
                </a:tc>
                <a:tc>
                  <a:txBody>
                    <a:bodyPr>
                      <a:noAutofit/>
                    </a:bodyPr>
                    <a:lstStyle/>
                    <a:p>
                      <a:r>
                        <a:rPr sz="2100" b="0">
                          <a:solidFill>
                            <a:srgbClr val="24123B"/>
                          </a:solidFill>
                          <a:latin typeface="Arial"/>
                          <a:ea typeface="Arial"/>
                          <a:cs typeface="Arial"/>
                        </a:rPr>
                        <a:t>13,974</a:t>
                      </a:r>
                    </a:p>
                  </a:txBody>
                  <a:tcPr marL="133350" marR="133350" marT="114300" marB="95250" anchor="ctr">
                    <a:solidFill>
                      <a:srgbClr val="FFFFFF"/>
                    </a:solidFill>
                  </a:tcPr>
                </a:tc>
              </a:tr>
              <a:tr h="676275">
                <a:tc>
                  <a:txBody>
                    <a:bodyPr>
                      <a:noAutofit/>
                    </a:bodyPr>
                    <a:lstStyle/>
                    <a:p>
                      <a:r>
                        <a:rPr sz="2100" b="0">
                          <a:solidFill>
                            <a:srgbClr val="24123B"/>
                          </a:solidFill>
                          <a:latin typeface="Arial"/>
                          <a:ea typeface="Arial"/>
                          <a:cs typeface="Arial"/>
                        </a:rPr>
                        <a:t>June 2018</a:t>
                      </a:r>
                    </a:p>
                  </a:txBody>
                  <a:tcPr marL="133350" marR="133350" marT="114300" marB="95250" anchor="ctr">
                    <a:solidFill>
                      <a:srgbClr val="F6F2F9"/>
                    </a:solidFill>
                  </a:tcPr>
                </a:tc>
                <a:tc>
                  <a:txBody>
                    <a:bodyPr>
                      <a:noAutofit/>
                    </a:bodyPr>
                    <a:lstStyle/>
                    <a:p>
                      <a:r>
                        <a:rPr sz="2100" b="0">
                          <a:solidFill>
                            <a:srgbClr val="24123B"/>
                          </a:solidFill>
                          <a:latin typeface="Arial"/>
                          <a:ea typeface="Arial"/>
                          <a:cs typeface="Arial"/>
                        </a:rPr>
                        <a:t>21</a:t>
                      </a:r>
                    </a:p>
                  </a:txBody>
                  <a:tcPr marL="133350" marR="133350" marT="114300" marB="95250" anchor="ctr">
                    <a:solidFill>
                      <a:srgbClr val="F6F2F9"/>
                    </a:solidFill>
                  </a:tcPr>
                </a:tc>
                <a:tc>
                  <a:txBody>
                    <a:bodyPr>
                      <a:noAutofit/>
                    </a:bodyPr>
                    <a:lstStyle/>
                    <a:p>
                      <a:r>
                        <a:rPr sz="2100" b="0">
                          <a:solidFill>
                            <a:srgbClr val="24123B"/>
                          </a:solidFill>
                          <a:latin typeface="Arial"/>
                          <a:ea typeface="Arial"/>
                          <a:cs typeface="Arial"/>
                        </a:rPr>
                        <a:t>11,290</a:t>
                      </a:r>
                    </a:p>
                  </a:txBody>
                  <a:tcPr marL="133350" marR="133350" marT="114300" marB="95250" anchor="ctr">
                    <a:solidFill>
                      <a:srgbClr val="F6F2F9"/>
                    </a:solidFill>
                  </a:tcPr>
                </a:tc>
              </a:tr>
            </a:tbl>
          </a:graphicData>
        </a:graphic>
      </p:graphicFrame>
      <p:sp>
        <p:nvSpPr>
          <p:cNvPr id="5" name="">
            <a:extLst xmlns:a="http://schemas.openxmlformats.org/drawingml/2006/main">
              <a:ext uri="{FF2B5EF4-FFF2-40B4-BE49-F238E27FC236}">
                <a16:creationId xmlns:a16="http://schemas.microsoft.com/office/drawing/2014/main" id="{236728BB-E573-4106-919B-864B9419174C}"/>
              </a:ext>
            </a:extLst>
          </p:cNvPr>
          <p:cNvSpPr>
            <a:spLocks xmlns:a="http://schemas.openxmlformats.org/drawingml/2006/main" noGrp="1"/>
          </p:cNvSpPr>
          <p:nvPr/>
        </p:nvSpPr>
        <p:spPr>
          <a:xfrm xmlns:a="http://schemas.openxmlformats.org/drawingml/2006/main">
            <a:off x="609600" y="40481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4F008C"/>
                </a:solidFill>
                <a:latin typeface="Arial"/>
                <a:ea typeface="Arial"/>
                <a:cs typeface="Arial"/>
              </a:defRPr>
            </a:pPr>
            <a:r>
              <a:rPr sz="2175" b="1">
                <a:solidFill>
                  <a:srgbClr val="4F008C"/>
                </a:solidFill>
                <a:latin typeface="Arial"/>
                <a:ea typeface="Arial"/>
                <a:cs typeface="Arial"/>
              </a:rPr>
              <a:t>Expected peak day</a:t>
            </a:r>
          </a:p>
        </p:txBody>
      </p:sp>
      <p:sp>
        <p:nvSpPr>
          <p:cNvPr id="6" name="">
            <a:extLst xmlns:a="http://schemas.openxmlformats.org/drawingml/2006/main">
              <a:ext uri="{FF2B5EF4-FFF2-40B4-BE49-F238E27FC236}">
                <a16:creationId xmlns:a16="http://schemas.microsoft.com/office/drawing/2014/main" id="{DDA83189-9404-49D9-A53B-171E21C19B34}"/>
              </a:ext>
            </a:extLst>
          </p:cNvPr>
          <p:cNvSpPr>
            <a:spLocks xmlns:a="http://schemas.openxmlformats.org/drawingml/2006/main" noGrp="1"/>
          </p:cNvSpPr>
          <p:nvPr/>
        </p:nvSpPr>
        <p:spPr>
          <a:xfrm xmlns:a="http://schemas.openxmlformats.org/drawingml/2006/main">
            <a:off x="609600" y="4562475"/>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24123B"/>
                </a:solidFill>
                <a:latin typeface="Arial"/>
                <a:ea typeface="Arial"/>
                <a:cs typeface="Arial"/>
              </a:defRPr>
            </a:pPr>
            <a:r>
              <a:rPr sz="2175" b="0">
                <a:solidFill>
                  <a:srgbClr val="24123B"/>
                </a:solidFill>
                <a:latin typeface="Arial"/>
                <a:ea typeface="Arial"/>
                <a:cs typeface="Arial"/>
              </a:rPr>
              <a:t>1 May 2018: about 643 hours</a:t>
            </a:r>
          </a:p>
        </p:txBody>
      </p:sp>
      <p:sp>
        <p:nvSpPr>
          <p:cNvPr id="7" name="">
            <a:extLst xmlns:a="http://schemas.openxmlformats.org/drawingml/2006/main">
              <a:ext uri="{FF2B5EF4-FFF2-40B4-BE49-F238E27FC236}">
                <a16:creationId xmlns:a16="http://schemas.microsoft.com/office/drawing/2014/main" id="{FCD226AC-F7D7-46BA-9157-499BF811D322}"/>
              </a:ext>
            </a:extLst>
          </p:cNvPr>
          <p:cNvSpPr>
            <a:spLocks xmlns:a="http://schemas.openxmlformats.org/drawingml/2006/main" noGrp="1"/>
          </p:cNvSpPr>
          <p:nvPr/>
        </p:nvSpPr>
        <p:spPr>
          <a:xfrm xmlns:a="http://schemas.openxmlformats.org/drawingml/2006/main">
            <a:off x="609600" y="5362575"/>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55C70"/>
                </a:solidFill>
                <a:latin typeface="Arial"/>
                <a:ea typeface="Arial"/>
                <a:cs typeface="Arial"/>
              </a:defRPr>
            </a:pPr>
            <a:r>
              <a:rPr sz="1800" b="0">
                <a:solidFill>
                  <a:srgbClr val="655C70"/>
                </a:solidFill>
                <a:latin typeface="Arial"/>
                <a:ea typeface="Arial"/>
                <a:cs typeface="Arial"/>
              </a:rPr>
              <a:t>Higher modeled demand occurs at the start of May.</a:t>
            </a:r>
          </a:p>
        </p:txBody>
      </p:sp>
      <p:sp>
        <p:nvSpPr>
          <p:cNvPr id="8" name="">
            <a:extLst xmlns:a="http://schemas.openxmlformats.org/drawingml/2006/main">
              <a:ext uri="{FF2B5EF4-FFF2-40B4-BE49-F238E27FC236}">
                <a16:creationId xmlns:a16="http://schemas.microsoft.com/office/drawing/2014/main" id="{30EBB72A-4DE2-4600-B8FE-A5B05190EBBC}"/>
              </a:ext>
            </a:extLst>
          </p:cNvPr>
          <p:cNvSpPr>
            <a:spLocks xmlns:a="http://schemas.openxmlformats.org/drawingml/2006/main" noGrp="1"/>
          </p:cNvSpPr>
          <p:nvPr/>
        </p:nvSpPr>
        <p:spPr>
          <a:xfrm xmlns:a="http://schemas.openxmlformats.org/drawingml/2006/main">
            <a:off x="6429375" y="404812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4F008C"/>
                </a:solidFill>
                <a:latin typeface="Arial"/>
                <a:ea typeface="Arial"/>
                <a:cs typeface="Arial"/>
              </a:defRPr>
            </a:pPr>
            <a:r>
              <a:rPr sz="2175" b="1">
                <a:solidFill>
                  <a:srgbClr val="4F008C"/>
                </a:solidFill>
                <a:latin typeface="Arial"/>
                <a:ea typeface="Arial"/>
                <a:cs typeface="Arial"/>
              </a:rPr>
              <a:t>Chronological backtest</a:t>
            </a:r>
          </a:p>
        </p:txBody>
      </p:sp>
      <p:sp>
        <p:nvSpPr>
          <p:cNvPr id="9" name="">
            <a:extLst xmlns:a="http://schemas.openxmlformats.org/drawingml/2006/main">
              <a:ext uri="{FF2B5EF4-FFF2-40B4-BE49-F238E27FC236}">
                <a16:creationId xmlns:a16="http://schemas.microsoft.com/office/drawing/2014/main" id="{3AE898C5-068D-4A1E-903B-1D904D70E2F3}"/>
              </a:ext>
            </a:extLst>
          </p:cNvPr>
          <p:cNvSpPr>
            <a:spLocks xmlns:a="http://schemas.openxmlformats.org/drawingml/2006/main" noGrp="1"/>
          </p:cNvSpPr>
          <p:nvPr/>
        </p:nvSpPr>
        <p:spPr>
          <a:xfrm xmlns:a="http://schemas.openxmlformats.org/drawingml/2006/main">
            <a:off x="6429375" y="4562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24123B"/>
                </a:solidFill>
                <a:latin typeface="Arial"/>
                <a:ea typeface="Arial"/>
                <a:cs typeface="Arial"/>
              </a:defRPr>
            </a:pPr>
            <a:r>
              <a:rPr sz="2175" b="0">
                <a:solidFill>
                  <a:srgbClr val="24123B"/>
                </a:solidFill>
                <a:latin typeface="Arial"/>
                <a:ea typeface="Arial"/>
                <a:cs typeface="Arial"/>
              </a:rPr>
              <a:t>MAE: 63.7 hours/day</a:t>
            </a:r>
          </a:p>
          <a:p xmlns:a="http://schemas.openxmlformats.org/drawingml/2006/main">
            <a:pPr>
              <a:defRPr sz="2175" b="0">
                <a:solidFill>
                  <a:srgbClr val="24123B"/>
                </a:solidFill>
                <a:latin typeface="Arial"/>
                <a:ea typeface="Arial"/>
                <a:cs typeface="Arial"/>
              </a:defRPr>
            </a:pPr>
            <a:r>
              <a:rPr sz="2175" b="0">
                <a:solidFill>
                  <a:srgbClr val="24123B"/>
                </a:solidFill>
                <a:latin typeface="Arial"/>
                <a:ea typeface="Arial"/>
                <a:cs typeface="Arial"/>
              </a:rPr>
              <a:t>Baseline: 85.9 hours/day</a:t>
            </a:r>
          </a:p>
        </p:txBody>
      </p:sp>
      <p:sp>
        <p:nvSpPr>
          <p:cNvPr id="10" name="">
            <a:extLst xmlns:a="http://schemas.openxmlformats.org/drawingml/2006/main">
              <a:ext uri="{FF2B5EF4-FFF2-40B4-BE49-F238E27FC236}">
                <a16:creationId xmlns:a16="http://schemas.microsoft.com/office/drawing/2014/main" id="{04547104-1413-43FB-9818-2EE153061C8B}"/>
              </a:ext>
            </a:extLst>
          </p:cNvPr>
          <p:cNvSpPr>
            <a:spLocks xmlns:a="http://schemas.openxmlformats.org/drawingml/2006/main" noGrp="1"/>
          </p:cNvSpPr>
          <p:nvPr/>
        </p:nvSpPr>
        <p:spPr>
          <a:xfrm xmlns:a="http://schemas.openxmlformats.org/drawingml/2006/main">
            <a:off x="6429375" y="55149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55C70"/>
                </a:solidFill>
                <a:latin typeface="Arial"/>
                <a:ea typeface="Arial"/>
                <a:cs typeface="Arial"/>
              </a:defRPr>
            </a:pPr>
            <a:r>
              <a:rPr sz="1800" b="0">
                <a:solidFill>
                  <a:srgbClr val="655C70"/>
                </a:solidFill>
                <a:latin typeface="Arial"/>
                <a:ea typeface="Arial"/>
                <a:cs typeface="Arial"/>
              </a:rPr>
              <a:t>Update the estimate as new data arrive.</a:t>
            </a:r>
          </a:p>
        </p:txBody>
      </p:sp>
    </p:spTree>
    <p:extLst>
      <p:ext uri="{BB962C8B-B14F-4D97-AF65-F5344CB8AC3E}">
        <p14:creationId xmlns:p14="http://schemas.microsoft.com/office/powerpoint/2010/main" val="1156067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F8D61E-7384-40CA-8228-279B93321B33}"/>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A Moana viewer can discover different titles</a:t>
            </a:r>
          </a:p>
        </p:txBody>
      </p:sp>
      <p:sp>
        <p:nvSpPr>
          <p:cNvPr id="2" name="">
            <a:extLst xmlns:a="http://schemas.openxmlformats.org/drawingml/2006/main">
              <a:ext uri="{FF2B5EF4-FFF2-40B4-BE49-F238E27FC236}">
                <a16:creationId xmlns:a16="http://schemas.microsoft.com/office/drawing/2014/main" id="{45F6AB13-9A30-447C-8FB2-6C6EA8B19D16}"/>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3. Anonymized example from the dataset. Watching a title is an implicit preference signal.</a:t>
            </a:r>
          </a:p>
        </p:txBody>
      </p:sp>
      <p:sp>
        <p:nvSpPr>
          <p:cNvPr id="3" name="">
            <a:extLst xmlns:a="http://schemas.openxmlformats.org/drawingml/2006/main">
              <a:ext uri="{FF2B5EF4-FFF2-40B4-BE49-F238E27FC236}">
                <a16:creationId xmlns:a16="http://schemas.microsoft.com/office/drawing/2014/main" id="{A2FD9B7B-0D8F-47B2-B393-6EA032F9D466}"/>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579AC97-52CA-42EF-AF72-10CCD930D216}"/>
              </a:ext>
            </a:extLst>
          </p:cNvPr>
          <p:cNvSpPr>
            <a:spLocks xmlns:a="http://schemas.openxmlformats.org/drawingml/2006/main" noGrp="1"/>
          </p:cNvSpPr>
          <p:nvPr/>
        </p:nvSpPr>
        <p:spPr>
          <a:xfrm xmlns:a="http://schemas.openxmlformats.org/drawingml/2006/main">
            <a:off x="609600" y="1828800"/>
            <a:ext cx="490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4F008C"/>
                </a:solidFill>
                <a:latin typeface="Arial"/>
                <a:ea typeface="Arial"/>
                <a:cs typeface="Arial"/>
              </a:defRPr>
            </a:pPr>
            <a:r>
              <a:rPr sz="2850" b="1">
                <a:solidFill>
                  <a:srgbClr val="4F008C"/>
                </a:solidFill>
                <a:latin typeface="Arial"/>
                <a:ea typeface="Arial"/>
                <a:cs typeface="Arial"/>
              </a:rPr>
              <a:t>Viewer 10007</a:t>
            </a:r>
          </a:p>
        </p:txBody>
      </p:sp>
      <p:sp>
        <p:nvSpPr>
          <p:cNvPr id="5" name="">
            <a:extLst xmlns:a="http://schemas.openxmlformats.org/drawingml/2006/main">
              <a:ext uri="{FF2B5EF4-FFF2-40B4-BE49-F238E27FC236}">
                <a16:creationId xmlns:a16="http://schemas.microsoft.com/office/drawing/2014/main" id="{5843379D-1DD7-4A2F-B42B-A7B2B33155FC}"/>
              </a:ext>
            </a:extLst>
          </p:cNvPr>
          <p:cNvSpPr>
            <a:spLocks xmlns:a="http://schemas.openxmlformats.org/drawingml/2006/main" noGrp="1"/>
          </p:cNvSpPr>
          <p:nvPr/>
        </p:nvSpPr>
        <p:spPr>
          <a:xfrm xmlns:a="http://schemas.openxmlformats.org/drawingml/2006/main">
            <a:off x="609600" y="2505075"/>
            <a:ext cx="4905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4123B"/>
                </a:solidFill>
                <a:latin typeface="Arial"/>
                <a:ea typeface="Arial"/>
                <a:cs typeface="Arial"/>
              </a:defRPr>
            </a:pPr>
            <a:r>
              <a:rPr sz="2100" b="0">
                <a:solidFill>
                  <a:srgbClr val="24123B"/>
                </a:solidFill>
                <a:latin typeface="Arial"/>
                <a:ea typeface="Arial"/>
                <a:cs typeface="Arial"/>
              </a:rPr>
              <a:t>Five titles watched, including Moana</a:t>
            </a:r>
          </a:p>
        </p:txBody>
      </p:sp>
      <p:sp>
        <p:nvSpPr>
          <p:cNvPr id="6" name="">
            <a:extLst xmlns:a="http://schemas.openxmlformats.org/drawingml/2006/main">
              <a:ext uri="{FF2B5EF4-FFF2-40B4-BE49-F238E27FC236}">
                <a16:creationId xmlns:a16="http://schemas.microsoft.com/office/drawing/2014/main" id="{A2A2F950-1D0C-4E0A-8BF9-9BE8C71736D5}"/>
              </a:ext>
            </a:extLst>
          </p:cNvPr>
          <p:cNvSpPr>
            <a:spLocks xmlns:a="http://schemas.openxmlformats.org/drawingml/2006/main" noGrp="1"/>
          </p:cNvSpPr>
          <p:nvPr/>
        </p:nvSpPr>
        <p:spPr>
          <a:xfrm xmlns:a="http://schemas.openxmlformats.org/drawingml/2006/main">
            <a:off x="609600" y="35718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4F008C"/>
                </a:solidFill>
                <a:latin typeface="Arial"/>
                <a:ea typeface="Arial"/>
                <a:cs typeface="Arial"/>
              </a:defRPr>
            </a:pPr>
            <a:r>
              <a:rPr sz="2100" b="1">
                <a:solidFill>
                  <a:srgbClr val="4F008C"/>
                </a:solidFill>
                <a:latin typeface="Arial"/>
                <a:ea typeface="Arial"/>
                <a:cs typeface="Arial"/>
              </a:rPr>
              <a:t>Suggested unseen titles</a:t>
            </a:r>
          </a:p>
        </p:txBody>
      </p:sp>
      <p:sp>
        <p:nvSpPr>
          <p:cNvPr id="7" name="">
            <a:extLst xmlns:a="http://schemas.openxmlformats.org/drawingml/2006/main">
              <a:ext uri="{FF2B5EF4-FFF2-40B4-BE49-F238E27FC236}">
                <a16:creationId xmlns:a16="http://schemas.microsoft.com/office/drawing/2014/main" id="{776FB325-C62F-49C4-A482-DF63C0E04650}"/>
              </a:ext>
            </a:extLst>
          </p:cNvPr>
          <p:cNvSpPr>
            <a:spLocks xmlns:a="http://schemas.openxmlformats.org/drawingml/2006/main" noGrp="1"/>
          </p:cNvSpPr>
          <p:nvPr/>
        </p:nvSpPr>
        <p:spPr>
          <a:xfrm xmlns:a="http://schemas.openxmlformats.org/drawingml/2006/main">
            <a:off x="609600" y="4152900"/>
            <a:ext cx="5191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4123B"/>
                </a:solidFill>
                <a:latin typeface="Arial"/>
                <a:ea typeface="Arial"/>
                <a:cs typeface="Arial"/>
              </a:defRPr>
            </a:pPr>
            <a:r>
              <a:rPr sz="2250" b="0">
                <a:solidFill>
                  <a:srgbClr val="24123B"/>
                </a:solidFill>
                <a:latin typeface="Arial"/>
                <a:ea typeface="Arial"/>
                <a:cs typeface="Arial"/>
              </a:rPr>
              <a:t>1. The Mermaid Princess</a:t>
            </a:r>
          </a:p>
          <a:p xmlns:a="http://schemas.openxmlformats.org/drawingml/2006/main">
            <a:pPr>
              <a:defRPr sz="2250" b="0">
                <a:solidFill>
                  <a:srgbClr val="24123B"/>
                </a:solidFill>
                <a:latin typeface="Arial"/>
                <a:ea typeface="Arial"/>
                <a:cs typeface="Arial"/>
              </a:defRPr>
            </a:pPr>
            <a:r>
              <a:rPr sz="2250" b="0">
                <a:solidFill>
                  <a:srgbClr val="24123B"/>
                </a:solidFill>
                <a:latin typeface="Arial"/>
                <a:ea typeface="Arial"/>
                <a:cs typeface="Arial"/>
              </a:rPr>
              <a:t>2. Trolls</a:t>
            </a:r>
          </a:p>
          <a:p xmlns:a="http://schemas.openxmlformats.org/drawingml/2006/main">
            <a:pPr>
              <a:defRPr sz="2250" b="0">
                <a:solidFill>
                  <a:srgbClr val="24123B"/>
                </a:solidFill>
                <a:latin typeface="Arial"/>
                <a:ea typeface="Arial"/>
                <a:cs typeface="Arial"/>
              </a:defRPr>
            </a:pPr>
            <a:r>
              <a:rPr sz="2250" b="0">
                <a:solidFill>
                  <a:srgbClr val="24123B"/>
                </a:solidFill>
                <a:latin typeface="Arial"/>
                <a:ea typeface="Arial"/>
                <a:cs typeface="Arial"/>
              </a:rPr>
              <a:t>3. Collateral Beauty</a:t>
            </a:r>
          </a:p>
        </p:txBody>
      </p:sp>
      <p:sp>
        <p:nvSpPr>
          <p:cNvPr id="8" name="">
            <a:extLst xmlns:a="http://schemas.openxmlformats.org/drawingml/2006/main">
              <a:ext uri="{FF2B5EF4-FFF2-40B4-BE49-F238E27FC236}">
                <a16:creationId xmlns:a16="http://schemas.microsoft.com/office/drawing/2014/main" id="{37A1ABE2-075F-421C-BBE2-5CBAD8DA9106}"/>
              </a:ext>
            </a:extLst>
          </p:cNvPr>
          <p:cNvSpPr>
            <a:spLocks xmlns:a="http://schemas.openxmlformats.org/drawingml/2006/main" noGrp="1"/>
          </p:cNvSpPr>
          <p:nvPr/>
        </p:nvSpPr>
        <p:spPr>
          <a:xfrm xmlns:a="http://schemas.openxmlformats.org/drawingml/2006/main">
            <a:off x="6762750" y="182880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4F008C"/>
                </a:solidFill>
                <a:latin typeface="Arial"/>
                <a:ea typeface="Arial"/>
                <a:cs typeface="Arial"/>
              </a:defRPr>
            </a:pPr>
            <a:r>
              <a:rPr sz="2550" b="1">
                <a:solidFill>
                  <a:srgbClr val="4F008C"/>
                </a:solidFill>
                <a:latin typeface="Arial"/>
                <a:ea typeface="Arial"/>
                <a:cs typeface="Arial"/>
              </a:rPr>
              <a:t>How the model finds them</a:t>
            </a:r>
          </a:p>
        </p:txBody>
      </p:sp>
      <p:sp>
        <p:nvSpPr>
          <p:cNvPr id="9" name="">
            <a:extLst xmlns:a="http://schemas.openxmlformats.org/drawingml/2006/main">
              <a:ext uri="{FF2B5EF4-FFF2-40B4-BE49-F238E27FC236}">
                <a16:creationId xmlns:a16="http://schemas.microsoft.com/office/drawing/2014/main" id="{F73F5473-7199-4334-9F11-EE0C292E34B9}"/>
              </a:ext>
            </a:extLst>
          </p:cNvPr>
          <p:cNvSpPr>
            <a:spLocks xmlns:a="http://schemas.openxmlformats.org/drawingml/2006/main" noGrp="1"/>
          </p:cNvSpPr>
          <p:nvPr/>
        </p:nvSpPr>
        <p:spPr>
          <a:xfrm xmlns:a="http://schemas.openxmlformats.org/drawingml/2006/main">
            <a:off x="6762750" y="2686050"/>
            <a:ext cx="4619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4123B"/>
                </a:solidFill>
                <a:latin typeface="Arial"/>
                <a:ea typeface="Arial"/>
                <a:cs typeface="Arial"/>
              </a:defRPr>
            </a:pPr>
            <a:r>
              <a:rPr sz="2100" b="0">
                <a:solidFill>
                  <a:srgbClr val="24123B"/>
                </a:solidFill>
                <a:latin typeface="Arial"/>
                <a:ea typeface="Arial"/>
                <a:cs typeface="Arial"/>
              </a:rPr>
              <a:t>It compares full viewing histories and finds up to 30 similar viewers.</a:t>
            </a:r>
          </a:p>
        </p:txBody>
      </p:sp>
      <p:sp>
        <p:nvSpPr>
          <p:cNvPr id="10" name="">
            <a:extLst xmlns:a="http://schemas.openxmlformats.org/drawingml/2006/main">
              <a:ext uri="{FF2B5EF4-FFF2-40B4-BE49-F238E27FC236}">
                <a16:creationId xmlns:a16="http://schemas.microsoft.com/office/drawing/2014/main" id="{6C4ACCEB-5E7E-414C-99D5-21FC634138E9}"/>
              </a:ext>
            </a:extLst>
          </p:cNvPr>
          <p:cNvSpPr>
            <a:spLocks xmlns:a="http://schemas.openxmlformats.org/drawingml/2006/main" noGrp="1"/>
          </p:cNvSpPr>
          <p:nvPr/>
        </p:nvSpPr>
        <p:spPr>
          <a:xfrm xmlns:a="http://schemas.openxmlformats.org/drawingml/2006/main">
            <a:off x="6762750" y="4038600"/>
            <a:ext cx="4619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4123B"/>
                </a:solidFill>
                <a:latin typeface="Arial"/>
                <a:ea typeface="Arial"/>
                <a:cs typeface="Arial"/>
              </a:defRPr>
            </a:pPr>
            <a:r>
              <a:rPr sz="2100" b="0">
                <a:solidFill>
                  <a:srgbClr val="24123B"/>
                </a:solidFill>
                <a:latin typeface="Arial"/>
                <a:ea typeface="Arial"/>
                <a:cs typeface="Arial"/>
              </a:rPr>
              <a:t>It ranks titles those viewers watched and removes titles already seen by the target user.</a:t>
            </a:r>
          </a:p>
        </p:txBody>
      </p:sp>
      <p:sp>
        <p:nvSpPr>
          <p:cNvPr id="11" name="">
            <a:extLst xmlns:a="http://schemas.openxmlformats.org/drawingml/2006/main">
              <a:ext uri="{FF2B5EF4-FFF2-40B4-BE49-F238E27FC236}">
                <a16:creationId xmlns:a16="http://schemas.microsoft.com/office/drawing/2014/main" id="{4536BF6F-85E7-4162-8D53-781B083357FE}"/>
              </a:ext>
            </a:extLst>
          </p:cNvPr>
          <p:cNvSpPr>
            <a:spLocks xmlns:a="http://schemas.openxmlformats.org/drawingml/2006/main" noGrp="1"/>
          </p:cNvSpPr>
          <p:nvPr/>
        </p:nvSpPr>
        <p:spPr>
          <a:xfrm xmlns:a="http://schemas.openxmlformats.org/drawingml/2006/main">
            <a:off x="6762750" y="5581650"/>
            <a:ext cx="466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55C70"/>
                </a:solidFill>
                <a:latin typeface="Arial"/>
                <a:ea typeface="Arial"/>
                <a:cs typeface="Arial"/>
              </a:defRPr>
            </a:pPr>
            <a:r>
              <a:rPr sz="1725" b="0">
                <a:solidFill>
                  <a:srgbClr val="655C70"/>
                </a:solidFill>
                <a:latin typeface="Arial"/>
                <a:ea typeface="Arial"/>
                <a:cs typeface="Arial"/>
              </a:rPr>
              <a:t>Personalized lists vary by viewer.</a:t>
            </a:r>
          </a:p>
        </p:txBody>
      </p:sp>
    </p:spTree>
    <p:extLst>
      <p:ext uri="{BB962C8B-B14F-4D97-AF65-F5344CB8AC3E}">
        <p14:creationId xmlns:p14="http://schemas.microsoft.com/office/powerpoint/2010/main" val="7737446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AAB004-91E4-4F3D-AE1E-9C1D1690B90B}"/>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Top five recommendations for the Moana audience</a:t>
            </a:r>
          </a:p>
        </p:txBody>
      </p:sp>
      <p:sp>
        <p:nvSpPr>
          <p:cNvPr id="2" name="">
            <a:extLst xmlns:a="http://schemas.openxmlformats.org/drawingml/2006/main">
              <a:ext uri="{FF2B5EF4-FFF2-40B4-BE49-F238E27FC236}">
                <a16:creationId xmlns:a16="http://schemas.microsoft.com/office/drawing/2014/main" id="{80D679BA-691B-4DE3-83F6-1BE089D979D5}"/>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3. Average personalized scores across 2,173 Moana viewers. Scores are ranking signals.</a:t>
            </a:r>
          </a:p>
        </p:txBody>
      </p:sp>
      <p:sp>
        <p:nvSpPr>
          <p:cNvPr id="3" name="">
            <a:extLst xmlns:a="http://schemas.openxmlformats.org/drawingml/2006/main">
              <a:ext uri="{FF2B5EF4-FFF2-40B4-BE49-F238E27FC236}">
                <a16:creationId xmlns:a16="http://schemas.microsoft.com/office/drawing/2014/main" id="{176F5A73-A6B1-4842-9E89-FBE146512520}"/>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10</a:t>
            </a:r>
          </a:p>
        </p:txBody>
      </p:sp>
      <p:graphicFrame>
        <p:nvGraphicFramePr>
          <p:cNvPr id="9" name=""/>
          <p:cNvGraphicFramePr/>
          <p:nvPr/>
        </p:nvGraphicFramePr>
        <p:xfrm>
          <a:off xmlns:a="http://schemas.openxmlformats.org/drawingml/2006/main" x="609600" y="1704975"/>
          <a:ext xmlns:a="http://schemas.openxmlformats.org/drawingml/2006/main" cx="10972800" cy="3686175"/>
        </p:xfrm>
        <a:graphic xmlns:a="http://schemas.openxmlformats.org/drawingml/2006/main">
          <a:graphicData uri="http://schemas.openxmlformats.org/drawingml/2006/table">
            <a:tbl>
              <a:tblPr/>
              <a:tblGrid>
                <a:gridCol w="952500"/>
                <a:gridCol w="6191250"/>
                <a:gridCol w="2286000"/>
                <a:gridCol w="1543050"/>
              </a:tblGrid>
              <a:tr h="614363">
                <a:tc>
                  <a:txBody>
                    <a:bodyPr>
                      <a:noAutofit/>
                    </a:bodyPr>
                    <a:lstStyle/>
                    <a:p>
                      <a:r>
                        <a:rPr sz="1875" b="1">
                          <a:solidFill>
                            <a:srgbClr val="FFFFFF"/>
                          </a:solidFill>
                          <a:latin typeface="Arial"/>
                          <a:ea typeface="Arial"/>
                          <a:cs typeface="Arial"/>
                        </a:rPr>
                        <a:t>Rank</a:t>
                      </a:r>
                    </a:p>
                  </a:txBody>
                  <a:tcPr marL="133350" marR="133350" marT="114300" marB="95250" anchor="ctr">
                    <a:solidFill>
                      <a:srgbClr val="4F008C"/>
                    </a:solidFill>
                  </a:tcPr>
                </a:tc>
                <a:tc>
                  <a:txBody>
                    <a:bodyPr>
                      <a:noAutofit/>
                    </a:bodyPr>
                    <a:lstStyle/>
                    <a:p>
                      <a:r>
                        <a:rPr sz="1875" b="1">
                          <a:solidFill>
                            <a:srgbClr val="FFFFFF"/>
                          </a:solidFill>
                          <a:latin typeface="Arial"/>
                          <a:ea typeface="Arial"/>
                          <a:cs typeface="Arial"/>
                        </a:rPr>
                        <a:t>Program</a:t>
                      </a:r>
                    </a:p>
                  </a:txBody>
                  <a:tcPr marL="133350" marR="133350" marT="114300" marB="95250" anchor="ctr">
                    <a:solidFill>
                      <a:srgbClr val="4F008C"/>
                    </a:solidFill>
                  </a:tcPr>
                </a:tc>
                <a:tc>
                  <a:txBody>
                    <a:bodyPr>
                      <a:noAutofit/>
                    </a:bodyPr>
                    <a:lstStyle/>
                    <a:p>
                      <a:r>
                        <a:rPr sz="1875" b="1">
                          <a:solidFill>
                            <a:srgbClr val="FFFFFF"/>
                          </a:solidFill>
                          <a:latin typeface="Arial"/>
                          <a:ea typeface="Arial"/>
                          <a:cs typeface="Arial"/>
                        </a:rPr>
                        <a:t>Genre</a:t>
                      </a:r>
                    </a:p>
                  </a:txBody>
                  <a:tcPr marL="133350" marR="133350" marT="114300" marB="95250" anchor="ctr">
                    <a:solidFill>
                      <a:srgbClr val="4F008C"/>
                    </a:solidFill>
                  </a:tcPr>
                </a:tc>
                <a:tc>
                  <a:txBody>
                    <a:bodyPr>
                      <a:noAutofit/>
                    </a:bodyPr>
                    <a:lstStyle/>
                    <a:p>
                      <a:r>
                        <a:rPr sz="1875" b="1">
                          <a:solidFill>
                            <a:srgbClr val="FFFFFF"/>
                          </a:solidFill>
                          <a:latin typeface="Arial"/>
                          <a:ea typeface="Arial"/>
                          <a:cs typeface="Arial"/>
                        </a:rPr>
                        <a:t>Score</a:t>
                      </a:r>
                    </a:p>
                  </a:txBody>
                  <a:tcPr marL="133350" marR="133350" marT="114300" marB="95250" anchor="ctr">
                    <a:solidFill>
                      <a:srgbClr val="4F008C"/>
                    </a:solidFill>
                  </a:tcPr>
                </a:tc>
              </a:tr>
              <a:tr h="614363">
                <a:tc>
                  <a:txBody>
                    <a:bodyPr>
                      <a:noAutofit/>
                    </a:bodyPr>
                    <a:lstStyle/>
                    <a:p>
                      <a:r>
                        <a:rPr sz="1875" b="0">
                          <a:solidFill>
                            <a:srgbClr val="24123B"/>
                          </a:solidFill>
                          <a:latin typeface="Arial"/>
                          <a:ea typeface="Arial"/>
                          <a:cs typeface="Arial"/>
                        </a:rPr>
                        <a:t>1</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The Jetsons &amp; WWE: Robo-WrestleMania!</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Animation</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0.1203</a:t>
                      </a:r>
                    </a:p>
                  </a:txBody>
                  <a:tcPr marL="133350" marR="133350" marT="114300" marB="95250" anchor="ctr">
                    <a:solidFill>
                      <a:srgbClr val="FFFFFF"/>
                    </a:solidFill>
                  </a:tcPr>
                </a:tc>
              </a:tr>
              <a:tr h="614363">
                <a:tc>
                  <a:txBody>
                    <a:bodyPr>
                      <a:noAutofit/>
                    </a:bodyPr>
                    <a:lstStyle/>
                    <a:p>
                      <a:r>
                        <a:rPr sz="1875" b="0">
                          <a:solidFill>
                            <a:srgbClr val="24123B"/>
                          </a:solidFill>
                          <a:latin typeface="Arial"/>
                          <a:ea typeface="Arial"/>
                          <a:cs typeface="Arial"/>
                        </a:rPr>
                        <a:t>2</a:t>
                      </a:r>
                    </a:p>
                  </a:txBody>
                  <a:tcPr marL="133350" marR="133350" marT="114300" marB="95250" anchor="ctr">
                    <a:solidFill>
                      <a:srgbClr val="F6F2F9"/>
                    </a:solidFill>
                  </a:tcPr>
                </a:tc>
                <a:tc>
                  <a:txBody>
                    <a:bodyPr>
                      <a:noAutofit/>
                    </a:bodyPr>
                    <a:lstStyle/>
                    <a:p>
                      <a:r>
                        <a:rPr sz="1875" b="0">
                          <a:solidFill>
                            <a:srgbClr val="24123B"/>
                          </a:solidFill>
                          <a:latin typeface="Arial"/>
                          <a:ea typeface="Arial"/>
                          <a:cs typeface="Arial"/>
                        </a:rPr>
                        <a:t>Surf's Up : WaveMania</a:t>
                      </a:r>
                    </a:p>
                  </a:txBody>
                  <a:tcPr marL="133350" marR="133350" marT="114300" marB="95250" anchor="ctr">
                    <a:solidFill>
                      <a:srgbClr val="F6F2F9"/>
                    </a:solidFill>
                  </a:tcPr>
                </a:tc>
                <a:tc>
                  <a:txBody>
                    <a:bodyPr>
                      <a:noAutofit/>
                    </a:bodyPr>
                    <a:lstStyle/>
                    <a:p>
                      <a:r>
                        <a:rPr sz="1875" b="0">
                          <a:solidFill>
                            <a:srgbClr val="24123B"/>
                          </a:solidFill>
                          <a:latin typeface="Arial"/>
                          <a:ea typeface="Arial"/>
                          <a:cs typeface="Arial"/>
                        </a:rPr>
                        <a:t>Animation</a:t>
                      </a:r>
                    </a:p>
                  </a:txBody>
                  <a:tcPr marL="133350" marR="133350" marT="114300" marB="95250" anchor="ctr">
                    <a:solidFill>
                      <a:srgbClr val="F6F2F9"/>
                    </a:solidFill>
                  </a:tcPr>
                </a:tc>
                <a:tc>
                  <a:txBody>
                    <a:bodyPr>
                      <a:noAutofit/>
                    </a:bodyPr>
                    <a:lstStyle/>
                    <a:p>
                      <a:r>
                        <a:rPr sz="1875" b="0">
                          <a:solidFill>
                            <a:srgbClr val="24123B"/>
                          </a:solidFill>
                          <a:latin typeface="Arial"/>
                          <a:ea typeface="Arial"/>
                          <a:cs typeface="Arial"/>
                        </a:rPr>
                        <a:t>0.1121</a:t>
                      </a:r>
                    </a:p>
                  </a:txBody>
                  <a:tcPr marL="133350" marR="133350" marT="114300" marB="95250" anchor="ctr">
                    <a:solidFill>
                      <a:srgbClr val="F6F2F9"/>
                    </a:solidFill>
                  </a:tcPr>
                </a:tc>
              </a:tr>
              <a:tr h="614363">
                <a:tc>
                  <a:txBody>
                    <a:bodyPr>
                      <a:noAutofit/>
                    </a:bodyPr>
                    <a:lstStyle/>
                    <a:p>
                      <a:r>
                        <a:rPr sz="1875" b="0">
                          <a:solidFill>
                            <a:srgbClr val="24123B"/>
                          </a:solidFill>
                          <a:latin typeface="Arial"/>
                          <a:ea typeface="Arial"/>
                          <a:cs typeface="Arial"/>
                        </a:rPr>
                        <a:t>3</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Rings</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Horror</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0.1085</a:t>
                      </a:r>
                    </a:p>
                  </a:txBody>
                  <a:tcPr marL="133350" marR="133350" marT="114300" marB="95250" anchor="ctr">
                    <a:solidFill>
                      <a:srgbClr val="FFFFFF"/>
                    </a:solidFill>
                  </a:tcPr>
                </a:tc>
              </a:tr>
              <a:tr h="614363">
                <a:tc>
                  <a:txBody>
                    <a:bodyPr>
                      <a:noAutofit/>
                    </a:bodyPr>
                    <a:lstStyle/>
                    <a:p>
                      <a:r>
                        <a:rPr sz="1875" b="0">
                          <a:solidFill>
                            <a:srgbClr val="24123B"/>
                          </a:solidFill>
                          <a:latin typeface="Arial"/>
                          <a:ea typeface="Arial"/>
                          <a:cs typeface="Arial"/>
                        </a:rPr>
                        <a:t>4</a:t>
                      </a:r>
                    </a:p>
                  </a:txBody>
                  <a:tcPr marL="133350" marR="133350" marT="114300" marB="95250" anchor="ctr">
                    <a:solidFill>
                      <a:srgbClr val="F6F2F9"/>
                    </a:solidFill>
                  </a:tcPr>
                </a:tc>
                <a:tc>
                  <a:txBody>
                    <a:bodyPr>
                      <a:noAutofit/>
                    </a:bodyPr>
                    <a:lstStyle/>
                    <a:p>
                      <a:r>
                        <a:rPr sz="1875" b="0">
                          <a:solidFill>
                            <a:srgbClr val="24123B"/>
                          </a:solidFill>
                          <a:latin typeface="Arial"/>
                          <a:ea typeface="Arial"/>
                          <a:cs typeface="Arial"/>
                        </a:rPr>
                        <a:t>The Mermaid Princess</a:t>
                      </a:r>
                    </a:p>
                  </a:txBody>
                  <a:tcPr marL="133350" marR="133350" marT="114300" marB="95250" anchor="ctr">
                    <a:solidFill>
                      <a:srgbClr val="F6F2F9"/>
                    </a:solidFill>
                  </a:tcPr>
                </a:tc>
                <a:tc>
                  <a:txBody>
                    <a:bodyPr>
                      <a:noAutofit/>
                    </a:bodyPr>
                    <a:lstStyle/>
                    <a:p>
                      <a:r>
                        <a:rPr sz="1875" b="0">
                          <a:solidFill>
                            <a:srgbClr val="24123B"/>
                          </a:solidFill>
                          <a:latin typeface="Arial"/>
                          <a:ea typeface="Arial"/>
                          <a:cs typeface="Arial"/>
                        </a:rPr>
                        <a:t>Animation</a:t>
                      </a:r>
                    </a:p>
                  </a:txBody>
                  <a:tcPr marL="133350" marR="133350" marT="114300" marB="95250" anchor="ctr">
                    <a:solidFill>
                      <a:srgbClr val="F6F2F9"/>
                    </a:solidFill>
                  </a:tcPr>
                </a:tc>
                <a:tc>
                  <a:txBody>
                    <a:bodyPr>
                      <a:noAutofit/>
                    </a:bodyPr>
                    <a:lstStyle/>
                    <a:p>
                      <a:r>
                        <a:rPr sz="1875" b="0">
                          <a:solidFill>
                            <a:srgbClr val="24123B"/>
                          </a:solidFill>
                          <a:latin typeface="Arial"/>
                          <a:ea typeface="Arial"/>
                          <a:cs typeface="Arial"/>
                        </a:rPr>
                        <a:t>0.1057</a:t>
                      </a:r>
                    </a:p>
                  </a:txBody>
                  <a:tcPr marL="133350" marR="133350" marT="114300" marB="95250" anchor="ctr">
                    <a:solidFill>
                      <a:srgbClr val="F6F2F9"/>
                    </a:solidFill>
                  </a:tcPr>
                </a:tc>
              </a:tr>
              <a:tr h="614363">
                <a:tc>
                  <a:txBody>
                    <a:bodyPr>
                      <a:noAutofit/>
                    </a:bodyPr>
                    <a:lstStyle/>
                    <a:p>
                      <a:r>
                        <a:rPr sz="1875" b="0">
                          <a:solidFill>
                            <a:srgbClr val="24123B"/>
                          </a:solidFill>
                          <a:latin typeface="Arial"/>
                          <a:ea typeface="Arial"/>
                          <a:cs typeface="Arial"/>
                        </a:rPr>
                        <a:t>5</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Collateral Beauty</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Drama</a:t>
                      </a:r>
                    </a:p>
                  </a:txBody>
                  <a:tcPr marL="133350" marR="133350" marT="114300" marB="95250" anchor="ctr">
                    <a:solidFill>
                      <a:srgbClr val="FFFFFF"/>
                    </a:solidFill>
                  </a:tcPr>
                </a:tc>
                <a:tc>
                  <a:txBody>
                    <a:bodyPr>
                      <a:noAutofit/>
                    </a:bodyPr>
                    <a:lstStyle/>
                    <a:p>
                      <a:r>
                        <a:rPr sz="1875" b="0">
                          <a:solidFill>
                            <a:srgbClr val="24123B"/>
                          </a:solidFill>
                          <a:latin typeface="Arial"/>
                          <a:ea typeface="Arial"/>
                          <a:cs typeface="Arial"/>
                        </a:rPr>
                        <a:t>0.1033</a:t>
                      </a:r>
                    </a:p>
                  </a:txBody>
                  <a:tcPr marL="133350" marR="133350" marT="11430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449E683-1474-498C-8FA2-E99F289D829F}"/>
              </a:ext>
            </a:extLst>
          </p:cNvPr>
          <p:cNvSpPr>
            <a:spLocks xmlns:a="http://schemas.openxmlformats.org/drawingml/2006/main" noGrp="1"/>
          </p:cNvSpPr>
          <p:nvPr/>
        </p:nvSpPr>
        <p:spPr>
          <a:xfrm xmlns:a="http://schemas.openxmlformats.org/drawingml/2006/main">
            <a:off x="609600" y="56292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655C70"/>
                </a:solidFill>
                <a:latin typeface="Arial"/>
                <a:ea typeface="Arial"/>
                <a:cs typeface="Arial"/>
              </a:defRPr>
            </a:pPr>
            <a:r>
              <a:rPr sz="1800" b="0">
                <a:solidFill>
                  <a:srgbClr val="655C70"/>
                </a:solidFill>
                <a:latin typeface="Arial"/>
                <a:ea typeface="Arial"/>
                <a:cs typeface="Arial"/>
              </a:rPr>
              <a:t>The group ranking spans several genres because the model uses viewers' full histories. Each user receives their own unseen-title list.</a:t>
            </a:r>
          </a:p>
        </p:txBody>
      </p:sp>
    </p:spTree>
    <p:extLst>
      <p:ext uri="{BB962C8B-B14F-4D97-AF65-F5344CB8AC3E}">
        <p14:creationId xmlns:p14="http://schemas.microsoft.com/office/powerpoint/2010/main" val="13953791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AE3670-0A5D-4703-AB24-7262A907E739}"/>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Similar viewers recover more hidden titles</a:t>
            </a:r>
          </a:p>
        </p:txBody>
      </p:sp>
      <p:sp>
        <p:nvSpPr>
          <p:cNvPr id="2" name="">
            <a:extLst xmlns:a="http://schemas.openxmlformats.org/drawingml/2006/main">
              <a:ext uri="{FF2B5EF4-FFF2-40B4-BE49-F238E27FC236}">
                <a16:creationId xmlns:a16="http://schemas.microsoft.com/office/drawing/2014/main" id="{AA0F3447-19B3-49C2-9E1B-11EB807DCCB5}"/>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Task 3. Offline demonstration on 200 sampled users with at least five watched titles.</a:t>
            </a:r>
          </a:p>
        </p:txBody>
      </p:sp>
      <p:sp>
        <p:nvSpPr>
          <p:cNvPr id="3" name="">
            <a:extLst xmlns:a="http://schemas.openxmlformats.org/drawingml/2006/main">
              <a:ext uri="{FF2B5EF4-FFF2-40B4-BE49-F238E27FC236}">
                <a16:creationId xmlns:a16="http://schemas.microsoft.com/office/drawing/2014/main" id="{DA8BF4ED-0945-42E7-BC22-F74F2315E4C8}"/>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11</a:t>
            </a:r>
          </a:p>
        </p:txBody>
      </p:sp>
      <p:graphicFrame>
        <p:nvGraphicFramePr>
          <p:cNvPr id="12" name="Chart"/>
          <p:cNvGraphicFramePr/>
          <p:nvPr/>
        </p:nvGraphicFramePr>
        <p:xfrm>
          <a:off xmlns:a="http://schemas.openxmlformats.org/drawingml/2006/main" x="609600" y="1695450"/>
          <a:ext xmlns:a="http://schemas.openxmlformats.org/drawingml/2006/main" cx="7048500" cy="4000500"/>
        </p:xfrm>
        <a:graphic xmlns:a="http://schemas.openxmlformats.org/drawingml/2006/main">
          <a:graphicData uri="http://schemas.openxmlformats.org/drawingml/2006/chart">
            <c:chart xmlns:r="http://schemas.openxmlformats.org/officeDocument/2006/relationships" xmlns:c="http://schemas.openxmlformats.org/drawingml/2006/chart" r:id="R7296b66fd1d640de"/>
          </a:graphicData>
        </a:graphic>
      </p:graphicFrame>
      <p:sp>
        <p:nvSpPr>
          <p:cNvPr id="5" name="">
            <a:extLst xmlns:a="http://schemas.openxmlformats.org/drawingml/2006/main">
              <a:ext uri="{FF2B5EF4-FFF2-40B4-BE49-F238E27FC236}">
                <a16:creationId xmlns:a16="http://schemas.microsoft.com/office/drawing/2014/main" id="{6020426F-84CC-455C-A843-C1132B9B9F7D}"/>
              </a:ext>
            </a:extLst>
          </p:cNvPr>
          <p:cNvSpPr>
            <a:spLocks xmlns:a="http://schemas.openxmlformats.org/drawingml/2006/main" noGrp="1"/>
          </p:cNvSpPr>
          <p:nvPr/>
        </p:nvSpPr>
        <p:spPr>
          <a:xfrm xmlns:a="http://schemas.openxmlformats.org/drawingml/2006/main">
            <a:off x="8143875" y="1924050"/>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050" b="1">
                <a:solidFill>
                  <a:srgbClr val="4F008C"/>
                </a:solidFill>
                <a:latin typeface="Arial"/>
                <a:ea typeface="Arial"/>
                <a:cs typeface="Arial"/>
              </a:defRPr>
            </a:pPr>
            <a:r>
              <a:rPr sz="4050" b="1">
                <a:solidFill>
                  <a:srgbClr val="4F008C"/>
                </a:solidFill>
                <a:latin typeface="Arial"/>
                <a:ea typeface="Arial"/>
                <a:cs typeface="Arial"/>
              </a:rPr>
              <a:t>+17.5</a:t>
            </a:r>
          </a:p>
        </p:txBody>
      </p:sp>
      <p:sp>
        <p:nvSpPr>
          <p:cNvPr id="6" name="">
            <a:extLst xmlns:a="http://schemas.openxmlformats.org/drawingml/2006/main">
              <a:ext uri="{FF2B5EF4-FFF2-40B4-BE49-F238E27FC236}">
                <a16:creationId xmlns:a16="http://schemas.microsoft.com/office/drawing/2014/main" id="{0336C1BA-401F-46B5-B816-A4FDBF16DE3F}"/>
              </a:ext>
            </a:extLst>
          </p:cNvPr>
          <p:cNvSpPr>
            <a:spLocks xmlns:a="http://schemas.openxmlformats.org/drawingml/2006/main" noGrp="1"/>
          </p:cNvSpPr>
          <p:nvPr/>
        </p:nvSpPr>
        <p:spPr>
          <a:xfrm xmlns:a="http://schemas.openxmlformats.org/drawingml/2006/main">
            <a:off x="8143875" y="2714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4F008C"/>
                </a:solidFill>
                <a:latin typeface="Arial"/>
                <a:ea typeface="Arial"/>
                <a:cs typeface="Arial"/>
              </a:defRPr>
            </a:pPr>
            <a:r>
              <a:rPr sz="2100" b="1">
                <a:solidFill>
                  <a:srgbClr val="4F008C"/>
                </a:solidFill>
                <a:latin typeface="Arial"/>
                <a:ea typeface="Arial"/>
                <a:cs typeface="Arial"/>
              </a:rPr>
              <a:t>percentage points</a:t>
            </a:r>
          </a:p>
        </p:txBody>
      </p:sp>
      <p:sp>
        <p:nvSpPr>
          <p:cNvPr id="7" name="">
            <a:extLst xmlns:a="http://schemas.openxmlformats.org/drawingml/2006/main">
              <a:ext uri="{FF2B5EF4-FFF2-40B4-BE49-F238E27FC236}">
                <a16:creationId xmlns:a16="http://schemas.microsoft.com/office/drawing/2014/main" id="{6DAAC816-2924-4E19-9256-571880FF8879}"/>
              </a:ext>
            </a:extLst>
          </p:cNvPr>
          <p:cNvSpPr>
            <a:spLocks xmlns:a="http://schemas.openxmlformats.org/drawingml/2006/main" noGrp="1"/>
          </p:cNvSpPr>
          <p:nvPr/>
        </p:nvSpPr>
        <p:spPr>
          <a:xfrm xmlns:a="http://schemas.openxmlformats.org/drawingml/2006/main">
            <a:off x="8143875" y="3552825"/>
            <a:ext cx="333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24123B"/>
                </a:solidFill>
                <a:latin typeface="Arial"/>
                <a:ea typeface="Arial"/>
                <a:cs typeface="Arial"/>
              </a:defRPr>
            </a:pPr>
            <a:r>
              <a:rPr sz="2100" b="0">
                <a:solidFill>
                  <a:srgbClr val="24123B"/>
                </a:solidFill>
                <a:latin typeface="Arial"/>
                <a:ea typeface="Arial"/>
                <a:cs typeface="Arial"/>
              </a:rPr>
              <a:t>56 recovered titles</a:t>
            </a:r>
          </a:p>
          <a:p xmlns:a="http://schemas.openxmlformats.org/drawingml/2006/main">
            <a:pPr>
              <a:defRPr sz="2100" b="0">
                <a:solidFill>
                  <a:srgbClr val="24123B"/>
                </a:solidFill>
                <a:latin typeface="Arial"/>
                <a:ea typeface="Arial"/>
                <a:cs typeface="Arial"/>
              </a:defRPr>
            </a:pPr>
            <a:r>
              <a:rPr sz="2100" b="0">
                <a:solidFill>
                  <a:srgbClr val="24123B"/>
                </a:solidFill>
                <a:latin typeface="Arial"/>
                <a:ea typeface="Arial"/>
                <a:cs typeface="Arial"/>
              </a:rPr>
              <a:t>versus 21 for popularity</a:t>
            </a:r>
          </a:p>
        </p:txBody>
      </p:sp>
      <p:sp>
        <p:nvSpPr>
          <p:cNvPr id="8" name="">
            <a:extLst xmlns:a="http://schemas.openxmlformats.org/drawingml/2006/main">
              <a:ext uri="{FF2B5EF4-FFF2-40B4-BE49-F238E27FC236}">
                <a16:creationId xmlns:a16="http://schemas.microsoft.com/office/drawing/2014/main" id="{69BE2034-80B2-4927-A9DE-9DA550ED2EDB}"/>
              </a:ext>
            </a:extLst>
          </p:cNvPr>
          <p:cNvSpPr>
            <a:spLocks xmlns:a="http://schemas.openxmlformats.org/drawingml/2006/main" noGrp="1"/>
          </p:cNvSpPr>
          <p:nvPr/>
        </p:nvSpPr>
        <p:spPr>
          <a:xfrm xmlns:a="http://schemas.openxmlformats.org/drawingml/2006/main">
            <a:off x="8143875" y="4867275"/>
            <a:ext cx="3333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655C70"/>
                </a:solidFill>
                <a:latin typeface="Arial"/>
                <a:ea typeface="Arial"/>
                <a:cs typeface="Arial"/>
              </a:defRPr>
            </a:pPr>
            <a:r>
              <a:rPr sz="1950" b="0">
                <a:solidFill>
                  <a:srgbClr val="655C70"/>
                </a:solidFill>
                <a:latin typeface="Arial"/>
                <a:ea typeface="Arial"/>
                <a:cs typeface="Arial"/>
              </a:rPr>
              <a:t>A controlled product test is needed to measure engagement benefits.</a:t>
            </a:r>
          </a:p>
        </p:txBody>
      </p:sp>
    </p:spTree>
    <p:extLst>
      <p:ext uri="{BB962C8B-B14F-4D97-AF65-F5344CB8AC3E}">
        <p14:creationId xmlns:p14="http://schemas.microsoft.com/office/powerpoint/2010/main" val="5923626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5CFACC-3542-4159-8464-D6FA19706946}"/>
              </a:ext>
            </a:extLst>
          </p:cNvPr>
          <p:cNvSpPr>
            <a:spLocks xmlns:a="http://schemas.openxmlformats.org/drawingml/2006/main" noGrp="1"/>
          </p:cNvSpPr>
          <p:nvPr/>
        </p:nvSpPr>
        <p:spPr>
          <a:xfrm xmlns:a="http://schemas.openxmlformats.org/drawingml/2006/main">
            <a:off x="609600" y="4191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4F008C"/>
                </a:solidFill>
                <a:latin typeface="Arial"/>
                <a:ea typeface="Arial"/>
                <a:cs typeface="Arial"/>
              </a:defRPr>
            </a:pPr>
            <a:r>
              <a:rPr sz="3300" b="1">
                <a:solidFill>
                  <a:srgbClr val="4F008C"/>
                </a:solidFill>
                <a:latin typeface="Arial"/>
                <a:ea typeface="Arial"/>
                <a:cs typeface="Arial"/>
              </a:rPr>
              <a:t>Proposed service improvements and next steps</a:t>
            </a:r>
          </a:p>
        </p:txBody>
      </p:sp>
      <p:sp>
        <p:nvSpPr>
          <p:cNvPr id="2" name="">
            <a:extLst xmlns:a="http://schemas.openxmlformats.org/drawingml/2006/main">
              <a:ext uri="{FF2B5EF4-FFF2-40B4-BE49-F238E27FC236}">
                <a16:creationId xmlns:a16="http://schemas.microsoft.com/office/drawing/2014/main" id="{6DF11C3E-0049-4000-9852-876A009F5C18}"/>
              </a:ext>
            </a:extLst>
          </p:cNvPr>
          <p:cNvSpPr>
            <a:spLocks xmlns:a="http://schemas.openxmlformats.org/drawingml/2006/main" noGrp="1"/>
          </p:cNvSpPr>
          <p:nvPr/>
        </p:nvSpPr>
        <p:spPr>
          <a:xfrm xmlns:a="http://schemas.openxmlformats.org/drawingml/2006/main">
            <a:off x="609600" y="6286500"/>
            <a:ext cx="1033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655C70"/>
                </a:solidFill>
                <a:latin typeface="Arial"/>
                <a:ea typeface="Arial"/>
                <a:cs typeface="Arial"/>
              </a:defRPr>
            </a:pPr>
            <a:r>
              <a:rPr sz="1200" b="0">
                <a:solidFill>
                  <a:srgbClr val="655C70"/>
                </a:solidFill>
                <a:latin typeface="Arial"/>
                <a:ea typeface="Arial"/>
                <a:cs typeface="Arial"/>
              </a:rPr>
              <a:t>Proposals for a pilot. The datasets do not establish causes or measured business impact.</a:t>
            </a:r>
          </a:p>
        </p:txBody>
      </p:sp>
      <p:sp>
        <p:nvSpPr>
          <p:cNvPr id="3" name="">
            <a:extLst xmlns:a="http://schemas.openxmlformats.org/drawingml/2006/main">
              <a:ext uri="{FF2B5EF4-FFF2-40B4-BE49-F238E27FC236}">
                <a16:creationId xmlns:a16="http://schemas.microsoft.com/office/drawing/2014/main" id="{7F6D130D-6C03-45B6-AB3E-F9FA8F11F53F}"/>
              </a:ext>
            </a:extLst>
          </p:cNvPr>
          <p:cNvSpPr>
            <a:spLocks xmlns:a="http://schemas.openxmlformats.org/drawingml/2006/main" noGrp="1"/>
          </p:cNvSpPr>
          <p:nvPr/>
        </p:nvSpPr>
        <p:spPr>
          <a:xfrm xmlns:a="http://schemas.openxmlformats.org/drawingml/2006/main">
            <a:off x="11049000" y="62865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F008C"/>
                </a:solidFill>
                <a:latin typeface="Arial"/>
                <a:ea typeface="Arial"/>
                <a:cs typeface="Arial"/>
              </a:defRPr>
            </a:pPr>
            <a:r>
              <a:rPr sz="1350" b="0">
                <a:solidFill>
                  <a:srgbClr val="4F008C"/>
                </a:solidFill>
                <a:latin typeface="Arial"/>
                <a:ea typeface="Arial"/>
                <a:cs typeface="Arial"/>
              </a:rPr>
              <a:t>12</a:t>
            </a:r>
          </a:p>
        </p:txBody>
      </p:sp>
      <p:graphicFrame>
        <p:nvGraphicFramePr>
          <p:cNvPr id="10" name=""/>
          <p:cNvGraphicFramePr/>
          <p:nvPr/>
        </p:nvGraphicFramePr>
        <p:xfrm>
          <a:off xmlns:a="http://schemas.openxmlformats.org/drawingml/2006/main" x="609600" y="1685925"/>
          <a:ext xmlns:a="http://schemas.openxmlformats.org/drawingml/2006/main" cx="10972800" cy="3057525"/>
        </p:xfrm>
        <a:graphic xmlns:a="http://schemas.openxmlformats.org/drawingml/2006/main">
          <a:graphicData uri="http://schemas.openxmlformats.org/drawingml/2006/table">
            <a:tbl>
              <a:tblPr/>
              <a:tblGrid>
                <a:gridCol w="2762250"/>
                <a:gridCol w="5067300"/>
                <a:gridCol w="3143250"/>
              </a:tblGrid>
              <a:tr h="764381">
                <a:tc>
                  <a:txBody>
                    <a:bodyPr>
                      <a:noAutofit/>
                    </a:bodyPr>
                    <a:lstStyle/>
                    <a:p>
                      <a:r>
                        <a:rPr sz="1800" b="1">
                          <a:solidFill>
                            <a:srgbClr val="FFFFFF"/>
                          </a:solidFill>
                          <a:latin typeface="Arial"/>
                          <a:ea typeface="Arial"/>
                          <a:cs typeface="Arial"/>
                        </a:rPr>
                        <a:t>Priority and owner</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Proposed action</a:t>
                      </a:r>
                    </a:p>
                  </a:txBody>
                  <a:tcPr marL="133350" marR="133350" marT="114300" marB="95250" anchor="ctr">
                    <a:solidFill>
                      <a:srgbClr val="4F008C"/>
                    </a:solidFill>
                  </a:tcPr>
                </a:tc>
                <a:tc>
                  <a:txBody>
                    <a:bodyPr>
                      <a:noAutofit/>
                    </a:bodyPr>
                    <a:lstStyle/>
                    <a:p>
                      <a:r>
                        <a:rPr sz="1800" b="1">
                          <a:solidFill>
                            <a:srgbClr val="FFFFFF"/>
                          </a:solidFill>
                          <a:latin typeface="Arial"/>
                          <a:ea typeface="Arial"/>
                          <a:cs typeface="Arial"/>
                        </a:rPr>
                        <a:t>Measure</a:t>
                      </a:r>
                    </a:p>
                  </a:txBody>
                  <a:tcPr marL="133350" marR="133350" marT="114300" marB="95250" anchor="ctr">
                    <a:solidFill>
                      <a:srgbClr val="4F008C"/>
                    </a:solidFill>
                  </a:tcPr>
                </a:tc>
              </a:tr>
              <a:tr h="764381">
                <a:tc>
                  <a:txBody>
                    <a:bodyPr>
                      <a:noAutofit/>
                    </a:bodyPr>
                    <a:lstStyle/>
                    <a:p>
                      <a:r>
                        <a:rPr sz="1800" b="0">
                          <a:solidFill>
                            <a:srgbClr val="24123B"/>
                          </a:solidFill>
                          <a:latin typeface="Arial"/>
                          <a:ea typeface="Arial"/>
                          <a:cs typeface="Arial"/>
                        </a:rPr>
                        <a:t>Series quality</a:t>
                      </a:r>
                    </a:p>
                    <a:p>
                      <a:r>
                        <a:rPr sz="1800" b="0">
                          <a:solidFill>
                            <a:srgbClr val="24123B"/>
                          </a:solidFill>
                          <a:latin typeface="Arial"/>
                          <a:ea typeface="Arial"/>
                          <a:cs typeface="Arial"/>
                        </a:rPr>
                        <a:t>Playback and content</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Audit HD availability and playback</a:t>
                      </a:r>
                    </a:p>
                    <a:p>
                      <a:r>
                        <a:rPr sz="1800" b="0">
                          <a:solidFill>
                            <a:srgbClr val="24123B"/>
                          </a:solidFill>
                          <a:latin typeface="Arial"/>
                          <a:ea typeface="Arial"/>
                          <a:cs typeface="Arial"/>
                        </a:rPr>
                        <a:t>by device and connection</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HD availability</a:t>
                      </a:r>
                    </a:p>
                    <a:p>
                      <a:r>
                        <a:rPr sz="1800" b="0">
                          <a:solidFill>
                            <a:srgbClr val="24123B"/>
                          </a:solidFill>
                          <a:latin typeface="Arial"/>
                          <a:ea typeface="Arial"/>
                          <a:cs typeface="Arial"/>
                        </a:rPr>
                        <a:t>Buffering and switching</a:t>
                      </a:r>
                    </a:p>
                  </a:txBody>
                  <a:tcPr marL="133350" marR="133350" marT="114300" marB="95250" anchor="ctr">
                    <a:solidFill>
                      <a:srgbClr val="FFFFFF"/>
                    </a:solidFill>
                  </a:tcPr>
                </a:tc>
              </a:tr>
              <a:tr h="764381">
                <a:tc>
                  <a:txBody>
                    <a:bodyPr>
                      <a:noAutofit/>
                    </a:bodyPr>
                    <a:lstStyle/>
                    <a:p>
                      <a:r>
                        <a:rPr sz="1800" b="0">
                          <a:solidFill>
                            <a:srgbClr val="24123B"/>
                          </a:solidFill>
                          <a:latin typeface="Arial"/>
                          <a:ea typeface="Arial"/>
                          <a:cs typeface="Arial"/>
                        </a:rPr>
                        <a:t>Content discovery</a:t>
                      </a:r>
                    </a:p>
                    <a:p>
                      <a:r>
                        <a:rPr sz="1800" b="0">
                          <a:solidFill>
                            <a:srgbClr val="24123B"/>
                          </a:solidFill>
                          <a:latin typeface="Arial"/>
                          <a:ea typeface="Arial"/>
                          <a:cs typeface="Arial"/>
                        </a:rPr>
                        <a:t>Product and data</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Test similar-viewer recommendations</a:t>
                      </a:r>
                    </a:p>
                    <a:p>
                      <a:r>
                        <a:rPr sz="1800" b="0">
                          <a:solidFill>
                            <a:srgbClr val="24123B"/>
                          </a:solidFill>
                          <a:latin typeface="Arial"/>
                          <a:ea typeface="Arial"/>
                          <a:cs typeface="Arial"/>
                        </a:rPr>
                        <a:t>against popular available titles</a:t>
                      </a:r>
                    </a:p>
                  </a:txBody>
                  <a:tcPr marL="133350" marR="133350" marT="114300" marB="95250" anchor="ctr">
                    <a:solidFill>
                      <a:srgbClr val="F6F2F9"/>
                    </a:solidFill>
                  </a:tcPr>
                </a:tc>
                <a:tc>
                  <a:txBody>
                    <a:bodyPr>
                      <a:noAutofit/>
                    </a:bodyPr>
                    <a:lstStyle/>
                    <a:p>
                      <a:r>
                        <a:rPr sz="1800" b="0">
                          <a:solidFill>
                            <a:srgbClr val="24123B"/>
                          </a:solidFill>
                          <a:latin typeface="Arial"/>
                          <a:ea typeface="Arial"/>
                          <a:cs typeface="Arial"/>
                        </a:rPr>
                        <a:t>Recommendation plays</a:t>
                      </a:r>
                    </a:p>
                    <a:p>
                      <a:r>
                        <a:rPr sz="1800" b="0">
                          <a:solidFill>
                            <a:srgbClr val="24123B"/>
                          </a:solidFill>
                          <a:latin typeface="Arial"/>
                          <a:ea typeface="Arial"/>
                          <a:cs typeface="Arial"/>
                        </a:rPr>
                        <a:t>and completion</a:t>
                      </a:r>
                    </a:p>
                  </a:txBody>
                  <a:tcPr marL="133350" marR="133350" marT="114300" marB="95250" anchor="ctr">
                    <a:solidFill>
                      <a:srgbClr val="F6F2F9"/>
                    </a:solidFill>
                  </a:tcPr>
                </a:tc>
              </a:tr>
              <a:tr h="764381">
                <a:tc>
                  <a:txBody>
                    <a:bodyPr>
                      <a:noAutofit/>
                    </a:bodyPr>
                    <a:lstStyle/>
                    <a:p>
                      <a:r>
                        <a:rPr sz="1800" b="0">
                          <a:solidFill>
                            <a:srgbClr val="24123B"/>
                          </a:solidFill>
                          <a:latin typeface="Arial"/>
                          <a:ea typeface="Arial"/>
                          <a:cs typeface="Arial"/>
                        </a:rPr>
                        <a:t>Demand planning</a:t>
                      </a:r>
                    </a:p>
                    <a:p>
                      <a:r>
                        <a:rPr sz="1800" b="0">
                          <a:solidFill>
                            <a:srgbClr val="24123B"/>
                          </a:solidFill>
                          <a:latin typeface="Arial"/>
                          <a:ea typeface="Arial"/>
                          <a:cs typeface="Arial"/>
                        </a:rPr>
                        <a:t>Data and operations</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Add hourly, weekend and holiday data</a:t>
                      </a:r>
                    </a:p>
                    <a:p>
                      <a:r>
                        <a:rPr sz="1800" b="0">
                          <a:solidFill>
                            <a:srgbClr val="24123B"/>
                          </a:solidFill>
                          <a:latin typeface="Arial"/>
                          <a:ea typeface="Arial"/>
                          <a:cs typeface="Arial"/>
                        </a:rPr>
                        <a:t>and refresh the watch-time forecast</a:t>
                      </a:r>
                    </a:p>
                  </a:txBody>
                  <a:tcPr marL="133350" marR="133350" marT="114300" marB="95250" anchor="ctr">
                    <a:solidFill>
                      <a:srgbClr val="FFFFFF"/>
                    </a:solidFill>
                  </a:tcPr>
                </a:tc>
                <a:tc>
                  <a:txBody>
                    <a:bodyPr>
                      <a:noAutofit/>
                    </a:bodyPr>
                    <a:lstStyle/>
                    <a:p>
                      <a:r>
                        <a:rPr sz="1800" b="0">
                          <a:solidFill>
                            <a:srgbClr val="24123B"/>
                          </a:solidFill>
                          <a:latin typeface="Arial"/>
                          <a:ea typeface="Arial"/>
                          <a:cs typeface="Arial"/>
                        </a:rPr>
                        <a:t>Forecast error</a:t>
                      </a:r>
                    </a:p>
                    <a:p>
                      <a:r>
                        <a:rPr sz="1800" b="0">
                          <a:solidFill>
                            <a:srgbClr val="24123B"/>
                          </a:solidFill>
                          <a:latin typeface="Arial"/>
                          <a:ea typeface="Arial"/>
                          <a:cs typeface="Arial"/>
                        </a:rPr>
                        <a:t>and peak-hour load</a:t>
                      </a:r>
                    </a:p>
                  </a:txBody>
                  <a:tcPr marL="133350" marR="133350" marT="11430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9ADAB92-40CB-416F-8B57-683BAEA975C5}"/>
              </a:ext>
            </a:extLst>
          </p:cNvPr>
          <p:cNvSpPr>
            <a:spLocks xmlns:a="http://schemas.openxmlformats.org/drawingml/2006/main" noGrp="1"/>
          </p:cNvSpPr>
          <p:nvPr/>
        </p:nvSpPr>
        <p:spPr>
          <a:xfrm xmlns:a="http://schemas.openxmlformats.org/drawingml/2006/main">
            <a:off x="609600" y="50863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4F008C"/>
                </a:solidFill>
                <a:latin typeface="Arial"/>
                <a:ea typeface="Arial"/>
                <a:cs typeface="Arial"/>
              </a:defRPr>
            </a:pPr>
            <a:r>
              <a:rPr sz="2025" b="1">
                <a:solidFill>
                  <a:srgbClr val="4F008C"/>
                </a:solidFill>
                <a:latin typeface="Arial"/>
                <a:ea typeface="Arial"/>
                <a:cs typeface="Arial"/>
              </a:rPr>
              <a:t>Weeks 1–2: audit playback and improve data coverage</a:t>
            </a:r>
          </a:p>
        </p:txBody>
      </p:sp>
      <p:sp>
        <p:nvSpPr>
          <p:cNvPr id="6" name="">
            <a:extLst xmlns:a="http://schemas.openxmlformats.org/drawingml/2006/main">
              <a:ext uri="{FF2B5EF4-FFF2-40B4-BE49-F238E27FC236}">
                <a16:creationId xmlns:a16="http://schemas.microsoft.com/office/drawing/2014/main" id="{74BE3133-5542-4765-9668-D3F630CD953C}"/>
              </a:ext>
            </a:extLst>
          </p:cNvPr>
          <p:cNvSpPr>
            <a:spLocks xmlns:a="http://schemas.openxmlformats.org/drawingml/2006/main" noGrp="1"/>
          </p:cNvSpPr>
          <p:nvPr/>
        </p:nvSpPr>
        <p:spPr>
          <a:xfrm xmlns:a="http://schemas.openxmlformats.org/drawingml/2006/main">
            <a:off x="609600" y="56007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4F008C"/>
                </a:solidFill>
                <a:latin typeface="Arial"/>
                <a:ea typeface="Arial"/>
                <a:cs typeface="Arial"/>
              </a:defRPr>
            </a:pPr>
            <a:r>
              <a:rPr sz="2025" b="1">
                <a:solidFill>
                  <a:srgbClr val="4F008C"/>
                </a:solidFill>
                <a:latin typeface="Arial"/>
                <a:ea typeface="Arial"/>
                <a:cs typeface="Arial"/>
              </a:rPr>
              <a:t>Weeks 3–4: run the recommendation pilot and review results</a:t>
            </a:r>
          </a:p>
        </p:txBody>
      </p:sp>
    </p:spTree>
    <p:extLst>
      <p:ext uri="{BB962C8B-B14F-4D97-AF65-F5344CB8AC3E}">
        <p14:creationId xmlns:p14="http://schemas.microsoft.com/office/powerpoint/2010/main" val="28571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2026-10-02T22:12:31.8000000Z</dcterms:created>
  <dcterms:modified xsi:type="dcterms:W3CDTF">2026-10-02T22:12:31.8000000Z</dcterms:modified>
</coreProperties>
</file>